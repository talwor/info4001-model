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ms-powerpoint.presentation.macroEnabled.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8" r:id="rId2"/>
    <p:sldId id="259" r:id="rId3"/>
    <p:sldId id="272" r:id="rId4"/>
    <p:sldId id="273" r:id="rId5"/>
    <p:sldId id="274" r:id="rId6"/>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20">
          <p15:clr>
            <a:srgbClr val="A4A3A4"/>
          </p15:clr>
        </p15:guide>
        <p15:guide id="2" pos="28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26"/>
    <a:srgbClr val="424242"/>
    <a:srgbClr val="0148A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79455" autoAdjust="0"/>
  </p:normalViewPr>
  <p:slideViewPr>
    <p:cSldViewPr snapToGrid="0" snapToObjects="1">
      <p:cViewPr varScale="1">
        <p:scale>
          <a:sx n="86" d="100"/>
          <a:sy n="86" d="100"/>
        </p:scale>
        <p:origin x="2328" y="84"/>
      </p:cViewPr>
      <p:guideLst>
        <p:guide orient="horz" pos="2120"/>
        <p:guide pos="2864"/>
      </p:guideLst>
    </p:cSldViewPr>
  </p:slideViewPr>
  <p:notesTextViewPr>
    <p:cViewPr>
      <p:scale>
        <a:sx n="100" d="100"/>
        <a:sy n="100" d="100"/>
      </p:scale>
      <p:origin x="0" y="0"/>
    </p:cViewPr>
  </p:notesTextViewPr>
  <p:sorterViewPr>
    <p:cViewPr>
      <p:scale>
        <a:sx n="185" d="100"/>
        <a:sy n="185"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slide" Target="slides/slide1.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Chart%20in%20Microsoft%20Office%20PowerPoint"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0"/>
    </mc:Choice>
    <mc:Fallback>
      <c:style val="10"/>
    </mc:Fallback>
  </mc:AlternateContent>
  <c:chart>
    <c:autoTitleDeleted val="0"/>
    <c:plotArea>
      <c:layout/>
      <c:barChart>
        <c:barDir val="col"/>
        <c:grouping val="clustered"/>
        <c:varyColors val="0"/>
        <c:ser>
          <c:idx val="0"/>
          <c:order val="0"/>
          <c:tx>
            <c:strRef>
              <c:f>'[Chart in Microsoft Office PowerPoint]Sheet1'!$A$2</c:f>
              <c:strCache>
                <c:ptCount val="1"/>
                <c:pt idx="0">
                  <c:v>Category 1</c:v>
                </c:pt>
              </c:strCache>
            </c:strRef>
          </c:tx>
          <c:spPr>
            <a:solidFill>
              <a:schemeClr val="accent1"/>
            </a:solidFill>
          </c:spPr>
          <c:invertIfNegative val="0"/>
          <c:cat>
            <c:strRef>
              <c:f>'[Chart in Microsoft Office PowerPoint]Sheet1'!$B$1:$D$1</c:f>
              <c:strCache>
                <c:ptCount val="3"/>
                <c:pt idx="0">
                  <c:v>Series 1</c:v>
                </c:pt>
                <c:pt idx="1">
                  <c:v>Series 2</c:v>
                </c:pt>
                <c:pt idx="2">
                  <c:v>Series 3</c:v>
                </c:pt>
              </c:strCache>
            </c:strRef>
          </c:cat>
          <c:val>
            <c:numRef>
              <c:f>'[Chart in Microsoft Office PowerPoint]Sheet1'!$B$2:$D$2</c:f>
              <c:numCache>
                <c:formatCode>General</c:formatCode>
                <c:ptCount val="3"/>
                <c:pt idx="0">
                  <c:v>4.3</c:v>
                </c:pt>
                <c:pt idx="1">
                  <c:v>2.4</c:v>
                </c:pt>
                <c:pt idx="2">
                  <c:v>2</c:v>
                </c:pt>
              </c:numCache>
            </c:numRef>
          </c:val>
          <c:extLst>
            <c:ext xmlns:c16="http://schemas.microsoft.com/office/drawing/2014/chart" uri="{C3380CC4-5D6E-409C-BE32-E72D297353CC}">
              <c16:uniqueId val="{00000000-90E8-48E5-A773-0ED7BC7FD064}"/>
            </c:ext>
          </c:extLst>
        </c:ser>
        <c:ser>
          <c:idx val="1"/>
          <c:order val="1"/>
          <c:tx>
            <c:strRef>
              <c:f>'[Chart in Microsoft Office PowerPoint]Sheet1'!$A$3</c:f>
              <c:strCache>
                <c:ptCount val="1"/>
                <c:pt idx="0">
                  <c:v>Category 2</c:v>
                </c:pt>
              </c:strCache>
            </c:strRef>
          </c:tx>
          <c:spPr>
            <a:solidFill>
              <a:schemeClr val="accent2"/>
            </a:solidFill>
          </c:spPr>
          <c:invertIfNegative val="0"/>
          <c:cat>
            <c:strRef>
              <c:f>'[Chart in Microsoft Office PowerPoint]Sheet1'!$B$1:$D$1</c:f>
              <c:strCache>
                <c:ptCount val="3"/>
                <c:pt idx="0">
                  <c:v>Series 1</c:v>
                </c:pt>
                <c:pt idx="1">
                  <c:v>Series 2</c:v>
                </c:pt>
                <c:pt idx="2">
                  <c:v>Series 3</c:v>
                </c:pt>
              </c:strCache>
            </c:strRef>
          </c:cat>
          <c:val>
            <c:numRef>
              <c:f>'[Chart in Microsoft Office PowerPoint]Sheet1'!$B$3:$D$3</c:f>
              <c:numCache>
                <c:formatCode>General</c:formatCode>
                <c:ptCount val="3"/>
                <c:pt idx="0">
                  <c:v>2.5</c:v>
                </c:pt>
                <c:pt idx="1">
                  <c:v>4.4000000000000004</c:v>
                </c:pt>
                <c:pt idx="2">
                  <c:v>2</c:v>
                </c:pt>
              </c:numCache>
            </c:numRef>
          </c:val>
          <c:extLst>
            <c:ext xmlns:c16="http://schemas.microsoft.com/office/drawing/2014/chart" uri="{C3380CC4-5D6E-409C-BE32-E72D297353CC}">
              <c16:uniqueId val="{00000001-90E8-48E5-A773-0ED7BC7FD064}"/>
            </c:ext>
          </c:extLst>
        </c:ser>
        <c:ser>
          <c:idx val="2"/>
          <c:order val="2"/>
          <c:tx>
            <c:strRef>
              <c:f>'[Chart in Microsoft Office PowerPoint]Sheet1'!$A$4</c:f>
              <c:strCache>
                <c:ptCount val="1"/>
                <c:pt idx="0">
                  <c:v>Category 3</c:v>
                </c:pt>
              </c:strCache>
            </c:strRef>
          </c:tx>
          <c:spPr>
            <a:solidFill>
              <a:schemeClr val="accent3"/>
            </a:solidFill>
          </c:spPr>
          <c:invertIfNegative val="0"/>
          <c:cat>
            <c:strRef>
              <c:f>'[Chart in Microsoft Office PowerPoint]Sheet1'!$B$1:$D$1</c:f>
              <c:strCache>
                <c:ptCount val="3"/>
                <c:pt idx="0">
                  <c:v>Series 1</c:v>
                </c:pt>
                <c:pt idx="1">
                  <c:v>Series 2</c:v>
                </c:pt>
                <c:pt idx="2">
                  <c:v>Series 3</c:v>
                </c:pt>
              </c:strCache>
            </c:strRef>
          </c:cat>
          <c:val>
            <c:numRef>
              <c:f>'[Chart in Microsoft Office PowerPoint]Sheet1'!$B$4:$D$4</c:f>
              <c:numCache>
                <c:formatCode>General</c:formatCode>
                <c:ptCount val="3"/>
                <c:pt idx="0">
                  <c:v>3.5</c:v>
                </c:pt>
                <c:pt idx="1">
                  <c:v>1.8</c:v>
                </c:pt>
                <c:pt idx="2">
                  <c:v>3</c:v>
                </c:pt>
              </c:numCache>
            </c:numRef>
          </c:val>
          <c:extLst>
            <c:ext xmlns:c16="http://schemas.microsoft.com/office/drawing/2014/chart" uri="{C3380CC4-5D6E-409C-BE32-E72D297353CC}">
              <c16:uniqueId val="{00000002-90E8-48E5-A773-0ED7BC7FD064}"/>
            </c:ext>
          </c:extLst>
        </c:ser>
        <c:ser>
          <c:idx val="3"/>
          <c:order val="3"/>
          <c:tx>
            <c:strRef>
              <c:f>'[Chart in Microsoft Office PowerPoint]Sheet1'!$A$5</c:f>
              <c:strCache>
                <c:ptCount val="1"/>
                <c:pt idx="0">
                  <c:v>Category 4</c:v>
                </c:pt>
              </c:strCache>
            </c:strRef>
          </c:tx>
          <c:spPr>
            <a:solidFill>
              <a:schemeClr val="accent4"/>
            </a:solidFill>
          </c:spPr>
          <c:invertIfNegative val="0"/>
          <c:cat>
            <c:strRef>
              <c:f>'[Chart in Microsoft Office PowerPoint]Sheet1'!$B$1:$D$1</c:f>
              <c:strCache>
                <c:ptCount val="3"/>
                <c:pt idx="0">
                  <c:v>Series 1</c:v>
                </c:pt>
                <c:pt idx="1">
                  <c:v>Series 2</c:v>
                </c:pt>
                <c:pt idx="2">
                  <c:v>Series 3</c:v>
                </c:pt>
              </c:strCache>
            </c:strRef>
          </c:cat>
          <c:val>
            <c:numRef>
              <c:f>'[Chart in Microsoft Office PowerPoint]Sheet1'!$B$5:$D$5</c:f>
              <c:numCache>
                <c:formatCode>General</c:formatCode>
                <c:ptCount val="3"/>
                <c:pt idx="0">
                  <c:v>2.1</c:v>
                </c:pt>
                <c:pt idx="1">
                  <c:v>3.4</c:v>
                </c:pt>
                <c:pt idx="2">
                  <c:v>4</c:v>
                </c:pt>
              </c:numCache>
            </c:numRef>
          </c:val>
          <c:extLst>
            <c:ext xmlns:c16="http://schemas.microsoft.com/office/drawing/2014/chart" uri="{C3380CC4-5D6E-409C-BE32-E72D297353CC}">
              <c16:uniqueId val="{00000003-90E8-48E5-A773-0ED7BC7FD064}"/>
            </c:ext>
          </c:extLst>
        </c:ser>
        <c:ser>
          <c:idx val="4"/>
          <c:order val="4"/>
          <c:tx>
            <c:strRef>
              <c:f>'[Chart in Microsoft Office PowerPoint]Sheet1'!$A$6</c:f>
              <c:strCache>
                <c:ptCount val="1"/>
                <c:pt idx="0">
                  <c:v>Category 5</c:v>
                </c:pt>
              </c:strCache>
            </c:strRef>
          </c:tx>
          <c:spPr>
            <a:solidFill>
              <a:schemeClr val="accent5"/>
            </a:solidFill>
          </c:spPr>
          <c:invertIfNegative val="0"/>
          <c:cat>
            <c:strRef>
              <c:f>'[Chart in Microsoft Office PowerPoint]Sheet1'!$B$1:$D$1</c:f>
              <c:strCache>
                <c:ptCount val="3"/>
                <c:pt idx="0">
                  <c:v>Series 1</c:v>
                </c:pt>
                <c:pt idx="1">
                  <c:v>Series 2</c:v>
                </c:pt>
                <c:pt idx="2">
                  <c:v>Series 3</c:v>
                </c:pt>
              </c:strCache>
            </c:strRef>
          </c:cat>
          <c:val>
            <c:numRef>
              <c:f>'[Chart in Microsoft Office PowerPoint]Sheet1'!$B$6:$D$6</c:f>
              <c:numCache>
                <c:formatCode>General</c:formatCode>
                <c:ptCount val="3"/>
                <c:pt idx="0">
                  <c:v>3</c:v>
                </c:pt>
                <c:pt idx="1">
                  <c:v>3.6</c:v>
                </c:pt>
                <c:pt idx="2">
                  <c:v>2.2000000000000002</c:v>
                </c:pt>
              </c:numCache>
            </c:numRef>
          </c:val>
          <c:extLst>
            <c:ext xmlns:c16="http://schemas.microsoft.com/office/drawing/2014/chart" uri="{C3380CC4-5D6E-409C-BE32-E72D297353CC}">
              <c16:uniqueId val="{00000004-90E8-48E5-A773-0ED7BC7FD064}"/>
            </c:ext>
          </c:extLst>
        </c:ser>
        <c:ser>
          <c:idx val="5"/>
          <c:order val="5"/>
          <c:tx>
            <c:strRef>
              <c:f>'[Chart in Microsoft Office PowerPoint]Sheet1'!$A$7</c:f>
              <c:strCache>
                <c:ptCount val="1"/>
                <c:pt idx="0">
                  <c:v>Category 6</c:v>
                </c:pt>
              </c:strCache>
            </c:strRef>
          </c:tx>
          <c:spPr>
            <a:solidFill>
              <a:schemeClr val="accent6"/>
            </a:solidFill>
          </c:spPr>
          <c:invertIfNegative val="0"/>
          <c:cat>
            <c:strRef>
              <c:f>'[Chart in Microsoft Office PowerPoint]Sheet1'!$B$1:$D$1</c:f>
              <c:strCache>
                <c:ptCount val="3"/>
                <c:pt idx="0">
                  <c:v>Series 1</c:v>
                </c:pt>
                <c:pt idx="1">
                  <c:v>Series 2</c:v>
                </c:pt>
                <c:pt idx="2">
                  <c:v>Series 3</c:v>
                </c:pt>
              </c:strCache>
            </c:strRef>
          </c:cat>
          <c:val>
            <c:numRef>
              <c:f>'[Chart in Microsoft Office PowerPoint]Sheet1'!$B$7:$D$7</c:f>
              <c:numCache>
                <c:formatCode>General</c:formatCode>
                <c:ptCount val="3"/>
                <c:pt idx="0">
                  <c:v>4</c:v>
                </c:pt>
                <c:pt idx="1">
                  <c:v>4</c:v>
                </c:pt>
                <c:pt idx="2">
                  <c:v>3</c:v>
                </c:pt>
              </c:numCache>
            </c:numRef>
          </c:val>
          <c:extLst>
            <c:ext xmlns:c16="http://schemas.microsoft.com/office/drawing/2014/chart" uri="{C3380CC4-5D6E-409C-BE32-E72D297353CC}">
              <c16:uniqueId val="{00000005-90E8-48E5-A773-0ED7BC7FD064}"/>
            </c:ext>
          </c:extLst>
        </c:ser>
        <c:ser>
          <c:idx val="6"/>
          <c:order val="6"/>
          <c:tx>
            <c:strRef>
              <c:f>'[Chart in Microsoft Office PowerPoint]Sheet1'!$A$8</c:f>
              <c:strCache>
                <c:ptCount val="1"/>
              </c:strCache>
            </c:strRef>
          </c:tx>
          <c:invertIfNegative val="0"/>
          <c:cat>
            <c:strRef>
              <c:f>'[Chart in Microsoft Office PowerPoint]Sheet1'!$B$1:$D$1</c:f>
              <c:strCache>
                <c:ptCount val="3"/>
                <c:pt idx="0">
                  <c:v>Series 1</c:v>
                </c:pt>
                <c:pt idx="1">
                  <c:v>Series 2</c:v>
                </c:pt>
                <c:pt idx="2">
                  <c:v>Series 3</c:v>
                </c:pt>
              </c:strCache>
            </c:strRef>
          </c:cat>
          <c:val>
            <c:numRef>
              <c:f>'[Chart in Microsoft Office PowerPoint]Sheet1'!$B$8:$D$8</c:f>
              <c:numCache>
                <c:formatCode>General</c:formatCode>
                <c:ptCount val="3"/>
              </c:numCache>
            </c:numRef>
          </c:val>
          <c:extLst>
            <c:ext xmlns:c16="http://schemas.microsoft.com/office/drawing/2014/chart" uri="{C3380CC4-5D6E-409C-BE32-E72D297353CC}">
              <c16:uniqueId val="{00000006-90E8-48E5-A773-0ED7BC7FD064}"/>
            </c:ext>
          </c:extLst>
        </c:ser>
        <c:dLbls>
          <c:showLegendKey val="0"/>
          <c:showVal val="0"/>
          <c:showCatName val="0"/>
          <c:showSerName val="0"/>
          <c:showPercent val="0"/>
          <c:showBubbleSize val="0"/>
        </c:dLbls>
        <c:gapWidth val="150"/>
        <c:axId val="2074063928"/>
        <c:axId val="2074061448"/>
      </c:barChart>
      <c:catAx>
        <c:axId val="2074063928"/>
        <c:scaling>
          <c:orientation val="minMax"/>
        </c:scaling>
        <c:delete val="0"/>
        <c:axPos val="b"/>
        <c:numFmt formatCode="General" sourceLinked="0"/>
        <c:majorTickMark val="out"/>
        <c:minorTickMark val="none"/>
        <c:tickLblPos val="nextTo"/>
        <c:crossAx val="2074061448"/>
        <c:crosses val="autoZero"/>
        <c:auto val="1"/>
        <c:lblAlgn val="ctr"/>
        <c:lblOffset val="100"/>
        <c:noMultiLvlLbl val="0"/>
      </c:catAx>
      <c:valAx>
        <c:axId val="2074061448"/>
        <c:scaling>
          <c:orientation val="minMax"/>
        </c:scaling>
        <c:delete val="0"/>
        <c:axPos val="l"/>
        <c:majorGridlines/>
        <c:numFmt formatCode="General" sourceLinked="1"/>
        <c:majorTickMark val="out"/>
        <c:minorTickMark val="none"/>
        <c:tickLblPos val="nextTo"/>
        <c:crossAx val="2074063928"/>
        <c:crosses val="autoZero"/>
        <c:crossBetween val="between"/>
      </c:valAx>
    </c:plotArea>
    <c:legend>
      <c:legendPos val="r"/>
      <c:legendEntry>
        <c:idx val="6"/>
        <c:delete val="1"/>
      </c:legendEntry>
      <c:overlay val="0"/>
    </c:legend>
    <c:plotVisOnly val="1"/>
    <c:dispBlanksAs val="gap"/>
    <c:showDLblsOverMax val="0"/>
  </c:chart>
  <c:txPr>
    <a:bodyPr/>
    <a:lstStyle/>
    <a:p>
      <a:pPr>
        <a:defRPr sz="1100">
          <a:latin typeface="Tw Cen MT"/>
          <a:cs typeface="Tw Cen M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D2E8D-5342-4FB3-8DA6-9CE089C10520}" type="datetimeFigureOut">
              <a:rPr lang="en-AU" smtClean="0"/>
              <a:t>7/11/2025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9A4926-A2AA-4932-88F2-CC32B7677072}" type="slidenum">
              <a:rPr lang="en-AU" smtClean="0"/>
              <a:t>‹#›</a:t>
            </a:fld>
            <a:endParaRPr lang="en-AU"/>
          </a:p>
        </p:txBody>
      </p:sp>
    </p:spTree>
    <p:extLst>
      <p:ext uri="{BB962C8B-B14F-4D97-AF65-F5344CB8AC3E}">
        <p14:creationId xmlns:p14="http://schemas.microsoft.com/office/powerpoint/2010/main" val="2053245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Regional and Indigenous Australians face higher burdens of infectious diseases. HIV weakens the immune system, making individuals more vulnerable to other infections like influenza. This study focuses on how these diseases interact in small communities.</a:t>
            </a:r>
          </a:p>
        </p:txBody>
      </p:sp>
      <p:sp>
        <p:nvSpPr>
          <p:cNvPr id="4" name="Slide Number Placeholder 3"/>
          <p:cNvSpPr>
            <a:spLocks noGrp="1"/>
          </p:cNvSpPr>
          <p:nvPr>
            <p:ph type="sldNum" sz="quarter" idx="5"/>
          </p:nvPr>
        </p:nvSpPr>
        <p:spPr/>
        <p:txBody>
          <a:bodyPr/>
          <a:lstStyle/>
          <a:p>
            <a:fld id="{BC9A4926-A2AA-4932-88F2-CC32B7677072}" type="slidenum">
              <a:rPr lang="en-AU" smtClean="0"/>
              <a:t>2</a:t>
            </a:fld>
            <a:endParaRPr lang="en-AU"/>
          </a:p>
        </p:txBody>
      </p:sp>
    </p:spTree>
    <p:extLst>
      <p:ext uri="{BB962C8B-B14F-4D97-AF65-F5344CB8AC3E}">
        <p14:creationId xmlns:p14="http://schemas.microsoft.com/office/powerpoint/2010/main" val="1392918626"/>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 to the thesis presentation. I will be discussing how HIV/AIDS and Influenza interact within a regional Australian context, focusing on Bourke, NSW.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of this study is to model how HIV-induced immunosuppression impacts influenza transmission. Objectives include building a population model, simulating transmission, and deriving public health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 studies modelled these diseases separately. HIV is a chronic infection with slow transmission, while influenza spreads quickly. Immunocompromised people experience more severe influenza outcomes.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network-based epidemiological model captures both structured (sexual) and unstructured (respiratory) contacts in a realistic way. This helps reveal how HIV and influenza dynamics interact in small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architecture integrates population generation, relationship dynamics, and disease transmission. Each component interacts daily to update infection and recovery status.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synthetic population of 2,340 individuals representing Bourke was created using 2021 ABS census data. Attributes include age, gender, and Indigenous status. Twenty adults were seeded with HIV to start the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Relationships form between adults under 10-year age gaps, with a homophily bias of 0.7 for Indigenous status. Relationships dissolve with a 2% daily probability. This models realistic partnership turnover.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 spreads through sexual relationships with low per-contact probabilities. ART treatment leads to viral suppression by day 180. Simulations run for 730 days, representing two years.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Influenza spreads quickly through both close contacts and random community interactions. An SEIR model tracks infection states, with temporary immunity lasting 180 days. HIV-positive nodes are twice as likely to catch flu.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day of simulation progresses disease states, forms relationships, transmits infections, and tracks recoveries. Outputs include prevalence and incidence of both diseases over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simulation modes were tested: HIV-only, influenza-only, and both together. Each was repeated across 21 random seeds to calculate averages and 95%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HIV-only runs, prevalence slowly rose to around 6–7%. This reflects realistic endemic behaviour of HIV where new infections occur slowly but persistently.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influenza-only runs, over 95% of the population was infected within 20 days. The outbreak peaked quickly and resolved, consistent with seasonal flu waves.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co-infection runs, HIV infections rose about 10–15% higher than the HIV-only case, while influenza spread was nearly identical. HIV’s slow spread limits its effect on influenza dynamics.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health recommendations: maintain ART adherence and increase influenza vaccination. Together, these strategies reduce both diseases’ burden in regional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successfully integrates sexual and respiratory transmission with realistic demographics, demonstrating how overlapping epidemics behave in small towns.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limitations exist: the model lacks seasonality, mobility, and behavioural change. Future work should include healthcare interventions, vaccinations, and migration dynamics.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Conclusions: HIV spreads slowly, influenza rapidly, and co-infection increases HIV modestly. The study highlights the importance of ART and vaccination programs in regional health planning.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Acknowledgements to Dr Mahendra Piraveenan, ABS, Kirby Institute, and Department of Health. This research contributes to understanding multi-disease interactions in regional Australia.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eg"/><Relationship Id="rId5"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pic>
        <p:nvPicPr>
          <p:cNvPr id="10" name="Picture 9"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Picture Placeholder 13"/>
          <p:cNvSpPr>
            <a:spLocks noGrp="1"/>
          </p:cNvSpPr>
          <p:nvPr>
            <p:ph type="pic" sz="quarter" idx="12"/>
          </p:nvPr>
        </p:nvSpPr>
        <p:spPr>
          <a:xfrm>
            <a:off x="4587875" y="0"/>
            <a:ext cx="4556125" cy="6858000"/>
          </a:xfrm>
          <a:solidFill>
            <a:schemeClr val="bg1">
              <a:lumMod val="85000"/>
            </a:schemeClr>
          </a:solidFill>
        </p:spPr>
        <p:txBody>
          <a:bodyPr anchor="ctr" anchorCtr="0"/>
          <a:lstStyle>
            <a:lvl1pPr marL="0" indent="0" algn="ctr">
              <a:buNone/>
              <a:defRPr/>
            </a:lvl1pPr>
          </a:lstStyle>
          <a:p>
            <a:pPr lvl="0"/>
            <a:r>
              <a:rPr lang="en-US" noProof="0"/>
              <a:t>Click icon to add picture</a:t>
            </a:r>
            <a:endParaRPr lang="en-US" noProof="0" dirty="0"/>
          </a:p>
        </p:txBody>
      </p:sp>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US"/>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07136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11" name="Picture 10"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6"/>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auto">
          <a:xfrm>
            <a:off x="4571344" y="0"/>
            <a:ext cx="4581600" cy="6872400"/>
          </a:xfrm>
          <a:prstGeom prst="rect">
            <a:avLst/>
          </a:prstGeom>
          <a:blipFill rotWithShape="1">
            <a:blip r:embed="rId4" cstate="screen">
              <a:extLst>
                <a:ext uri="{28A0092B-C50C-407E-A947-70E740481C1C}">
                  <a14:useLocalDpi xmlns:a14="http://schemas.microsoft.com/office/drawing/2010/main"/>
                </a:ext>
              </a:extLst>
            </a:blip>
            <a:stretch>
              <a:fillRect/>
            </a:stretch>
          </a:blipFill>
          <a:ln>
            <a:noFill/>
          </a:ln>
        </p:spPr>
      </p:pic>
      <p:pic>
        <p:nvPicPr>
          <p:cNvPr id="2" name="Picture 1" descr="269F7152-Edit.jpg"/>
          <p:cNvPicPr>
            <a:picLocks noChangeAspect="1"/>
          </p:cNvPicPr>
          <p:nvPr userDrawn="1"/>
        </p:nvPicPr>
        <p:blipFill rotWithShape="1">
          <a:blip r:embed="rId5">
            <a:extLst>
              <a:ext uri="{28A0092B-C50C-407E-A947-70E740481C1C}">
                <a14:useLocalDpi xmlns:a14="http://schemas.microsoft.com/office/drawing/2010/main" val="0"/>
              </a:ext>
            </a:extLst>
          </a:blip>
          <a:srcRect l="28075" r="27248"/>
          <a:stretch/>
        </p:blipFill>
        <p:spPr>
          <a:xfrm>
            <a:off x="4571344" y="-1"/>
            <a:ext cx="4581600" cy="6875925"/>
          </a:xfrm>
          <a:prstGeom prst="rect">
            <a:avLst/>
          </a:prstGeom>
        </p:spPr>
      </p:pic>
      <p:sp>
        <p:nvSpPr>
          <p:cNvPr id="8"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US"/>
              <a:t>Click to edit Master title style</a:t>
            </a:r>
            <a:endParaRPr lang="en-US" dirty="0"/>
          </a:p>
        </p:txBody>
      </p:sp>
      <p:sp>
        <p:nvSpPr>
          <p:cNvPr id="10"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8695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6"/>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5013" y="0"/>
            <a:ext cx="4598987"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US"/>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62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3060" r="38627"/>
          <a:stretch/>
        </p:blipFill>
        <p:spPr bwMode="auto">
          <a:xfrm>
            <a:off x="4546600" y="-8711"/>
            <a:ext cx="4597400" cy="68752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US"/>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21369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2" name="Picture 1" descr="269F8271-Edit.jpg"/>
          <p:cNvPicPr>
            <a:picLocks noChangeAspect="1"/>
          </p:cNvPicPr>
          <p:nvPr userDrawn="1"/>
        </p:nvPicPr>
        <p:blipFill rotWithShape="1">
          <a:blip r:embed="rId3">
            <a:extLst>
              <a:ext uri="{28A0092B-C50C-407E-A947-70E740481C1C}">
                <a14:useLocalDpi xmlns:a14="http://schemas.microsoft.com/office/drawing/2010/main" val="0"/>
              </a:ext>
            </a:extLst>
          </a:blip>
          <a:srcRect l="27099" r="28483"/>
          <a:stretch/>
        </p:blipFill>
        <p:spPr>
          <a:xfrm>
            <a:off x="4546600" y="0"/>
            <a:ext cx="4597399" cy="6898609"/>
          </a:xfrm>
          <a:prstGeom prst="rect">
            <a:avLst/>
          </a:prstGeom>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US"/>
              <a:t>Click to edit Master title style</a:t>
            </a:r>
            <a:endParaRPr lang="en-US" dirty="0"/>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2136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pic>
        <p:nvPicPr>
          <p:cNvPr id="4" name="Picture 3"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US"/>
              <a:t>Click to edit Master title style</a:t>
            </a:r>
            <a:endParaRPr lang="en-US" dirty="0"/>
          </a:p>
        </p:txBody>
      </p:sp>
      <p:sp>
        <p:nvSpPr>
          <p:cNvPr id="13"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15104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7"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Picture Placeholder 13"/>
          <p:cNvSpPr>
            <a:spLocks noGrp="1"/>
          </p:cNvSpPr>
          <p:nvPr>
            <p:ph type="pic" sz="quarter" idx="12"/>
          </p:nvPr>
        </p:nvSpPr>
        <p:spPr>
          <a:xfrm>
            <a:off x="4587876" y="418354"/>
            <a:ext cx="4150358" cy="6017555"/>
          </a:xfrm>
          <a:solidFill>
            <a:schemeClr val="bg1">
              <a:lumMod val="85000"/>
            </a:schemeClr>
          </a:solidFill>
          <a:ln>
            <a:noFill/>
          </a:ln>
        </p:spPr>
        <p:txBody>
          <a:bodyPr anchor="ctr" anchorCtr="0"/>
          <a:lstStyle>
            <a:lvl1pPr marL="0" indent="0" algn="ctr">
              <a:buNone/>
              <a:defRPr/>
            </a:lvl1pPr>
          </a:lstStyle>
          <a:p>
            <a:pPr lvl="0"/>
            <a:r>
              <a:rPr lang="en-US" noProof="0"/>
              <a:t>Click icon to add picture</a:t>
            </a:r>
            <a:endParaRPr lang="en-US" noProof="0" dirty="0"/>
          </a:p>
        </p:txBody>
      </p:sp>
      <p:sp>
        <p:nvSpPr>
          <p:cNvPr id="8"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US"/>
              <a:t>Click to edit Master title style</a:t>
            </a:r>
            <a:endParaRPr lang="en-US" dirty="0"/>
          </a:p>
        </p:txBody>
      </p:sp>
      <p:sp>
        <p:nvSpPr>
          <p:cNvPr id="9"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18380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645025" y="419100"/>
            <a:ext cx="4035425" cy="6016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US"/>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77600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645025" y="419100"/>
            <a:ext cx="4035425" cy="6016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US"/>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7152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Placeholder 4"/>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645025" y="419100"/>
            <a:ext cx="4035425" cy="6016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9" descr="USY_MB1_PMS_1_Colour_Standard_Logo.pn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US"/>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71859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 name="Picture 7" descr="USY_MB1_PMS_1_Colour_Standar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US"/>
              <a:t>Click to edit Master title style</a:t>
            </a:r>
            <a:endParaRPr lang="en-US" dirty="0"/>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69908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lnSpc>
                <a:spcPct val="90000"/>
              </a:lnSpc>
              <a:defRPr/>
            </a:lvl1pPr>
            <a:lvl2pPr marL="742950" indent="-285750">
              <a:lnSpc>
                <a:spcPct val="90000"/>
              </a:lnSpc>
              <a:buFont typeface="Lucida Grande"/>
              <a:buChar char="–"/>
              <a:defRPr/>
            </a:lvl2pPr>
            <a:lvl3pPr>
              <a:lnSpc>
                <a:spcPct val="90000"/>
              </a:lnSpc>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78583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51865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
        <p:nvSpPr>
          <p:cNvPr id="6" name="Picture Placeholder 5"/>
          <p:cNvSpPr>
            <a:spLocks noGrp="1"/>
          </p:cNvSpPr>
          <p:nvPr>
            <p:ph type="pic" sz="quarter" idx="10"/>
          </p:nvPr>
        </p:nvSpPr>
        <p:spPr>
          <a:xfrm>
            <a:off x="457200" y="1360488"/>
            <a:ext cx="4038600" cy="4130394"/>
          </a:xfrm>
        </p:spPr>
        <p:txBody>
          <a:bodyPr/>
          <a:lstStyle>
            <a:lvl1pPr marL="0" indent="0">
              <a:buNone/>
              <a:defRPr/>
            </a:lvl1pPr>
          </a:lstStyle>
          <a:p>
            <a:pPr lvl="0"/>
            <a:r>
              <a:rPr lang="en-US" noProof="0"/>
              <a:t>Click icon to add picture</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84226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457200" y="1360488"/>
            <a:ext cx="4038600" cy="4130675"/>
          </a:xfrm>
        </p:spPr>
        <p:txBody>
          <a:bodyPr/>
          <a:lstStyle>
            <a:lvl1pPr marL="0" indent="0">
              <a:buNone/>
              <a:defRPr/>
            </a:lvl1pPr>
          </a:lstStyle>
          <a:p>
            <a:pPr lvl="0"/>
            <a:r>
              <a:rPr lang="en-US" noProof="0"/>
              <a:t>Click icon to add table</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255055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457200" y="1360488"/>
            <a:ext cx="40386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4" name="Content Placeholder 3"/>
          <p:cNvSpPr>
            <a:spLocks noGrp="1"/>
          </p:cNvSpPr>
          <p:nvPr>
            <p:ph sz="half" idx="2"/>
          </p:nvPr>
        </p:nvSpPr>
        <p:spPr>
          <a:xfrm>
            <a:off x="4648200" y="1359925"/>
            <a:ext cx="40386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15921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US" noProof="0"/>
              <a:t>Click icon to add picture</a:t>
            </a:r>
            <a:endParaRPr lang="en-US" noProof="0" dirty="0"/>
          </a:p>
        </p:txBody>
      </p:sp>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44688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3706495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349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pic>
        <p:nvPicPr>
          <p:cNvPr id="8" name="Picture 7" descr="USY_MB1_PMS_1_Colour_Reversed_Logo.pn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4025" y="5905500"/>
            <a:ext cx="1536700" cy="530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381884" y="348302"/>
            <a:ext cx="8388586" cy="443577"/>
          </a:xfrm>
        </p:spPr>
        <p:txBody>
          <a:bodyPr anchor="t"/>
          <a:lstStyle>
            <a:lvl1pPr>
              <a:defRPr sz="2800" baseline="0">
                <a:solidFill>
                  <a:schemeClr val="accent1"/>
                </a:solidFill>
              </a:defRPr>
            </a:lvl1pPr>
          </a:lstStyle>
          <a:p>
            <a:r>
              <a:rPr lang="en-US"/>
              <a:t>Click to edit Master title style</a:t>
            </a:r>
            <a:endParaRPr lang="en-US" dirty="0"/>
          </a:p>
        </p:txBody>
      </p:sp>
      <p:sp>
        <p:nvSpPr>
          <p:cNvPr id="5" name="Text Placeholder 4"/>
          <p:cNvSpPr>
            <a:spLocks noGrp="1"/>
          </p:cNvSpPr>
          <p:nvPr>
            <p:ph type="body" sz="quarter" idx="11"/>
          </p:nvPr>
        </p:nvSpPr>
        <p:spPr>
          <a:xfrm>
            <a:off x="382765" y="799353"/>
            <a:ext cx="8387705"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13"/>
          <p:cNvSpPr>
            <a:spLocks noGrp="1"/>
          </p:cNvSpPr>
          <p:nvPr>
            <p:ph type="pic" sz="quarter" idx="12"/>
          </p:nvPr>
        </p:nvSpPr>
        <p:spPr>
          <a:xfrm>
            <a:off x="454455" y="1800412"/>
            <a:ext cx="8226486" cy="4635496"/>
          </a:xfrm>
          <a:solidFill>
            <a:srgbClr val="D9D9D9"/>
          </a:solidFill>
        </p:spPr>
        <p:txBody>
          <a:bodyPr anchor="ctr" anchorCtr="0"/>
          <a:lstStyle>
            <a:lvl1pPr marL="0" indent="0" algn="ctr">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2713799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pic>
        <p:nvPicPr>
          <p:cNvPr id="3" name="Picture 2" descr="PPT Template background file_Blu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bg1"/>
                </a:solidFill>
              </a:defRPr>
            </a:lvl1pPr>
          </a:lstStyle>
          <a:p>
            <a:r>
              <a:rPr lang="en-US"/>
              <a:t>Click to edit Master title style</a:t>
            </a:r>
            <a:endParaRPr lang="en-US" dirty="0"/>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1195967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pic>
        <p:nvPicPr>
          <p:cNvPr id="2" name="Picture 1" descr="PPT Template background file_Yellow.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tx1"/>
                </a:solidFill>
              </a:defRPr>
            </a:lvl1pPr>
          </a:lstStyle>
          <a:p>
            <a:r>
              <a:rPr lang="en-US"/>
              <a:t>Click to edit Master title style</a:t>
            </a:r>
            <a:endParaRPr lang="en-US" dirty="0"/>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817554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pic>
        <p:nvPicPr>
          <p:cNvPr id="2" name="Picture 1" descr="PPT Template background file_Charcoal.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bg1"/>
                </a:solidFill>
              </a:defRPr>
            </a:lvl1pPr>
          </a:lstStyle>
          <a:p>
            <a:r>
              <a:rPr lang="en-US"/>
              <a:t>Click to edit Master title style</a:t>
            </a:r>
            <a:endParaRPr lang="en-US" dirty="0"/>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9930919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 Type="http://schemas.openxmlformats.org/officeDocument/2006/relationships/slideLayout" Target="../slideLayouts/slideLayout2.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17475"/>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Insert slide title here… 28pt</a:t>
            </a:r>
          </a:p>
        </p:txBody>
      </p:sp>
      <p:sp>
        <p:nvSpPr>
          <p:cNvPr id="3" name="Text Placeholder 2"/>
          <p:cNvSpPr>
            <a:spLocks noGrp="1"/>
          </p:cNvSpPr>
          <p:nvPr>
            <p:ph type="body" idx="1"/>
          </p:nvPr>
        </p:nvSpPr>
        <p:spPr>
          <a:xfrm>
            <a:off x="457200" y="1358900"/>
            <a:ext cx="8229600" cy="4767263"/>
          </a:xfrm>
          <a:prstGeom prst="rect">
            <a:avLst/>
          </a:prstGeom>
        </p:spPr>
        <p:txBody>
          <a:bodyPr vert="horz" lIns="91440" tIns="45720" rIns="91440" bIns="45720" rtlCol="0">
            <a:normAutofit/>
          </a:bodyPr>
          <a:lstStyle/>
          <a:p>
            <a:r>
              <a:rPr lang="en-US" dirty="0"/>
              <a:t>Sub-heading Bold… 24pt</a:t>
            </a:r>
          </a:p>
          <a:p>
            <a:pPr lvl="0"/>
            <a:r>
              <a:rPr lang="en-US" dirty="0"/>
              <a:t>Add body copy </a:t>
            </a:r>
          </a:p>
          <a:p>
            <a:r>
              <a:rPr lang="en-US" dirty="0"/>
              <a:t>Add bullet point</a:t>
            </a:r>
          </a:p>
          <a:p>
            <a:r>
              <a:rPr lang="en-US" dirty="0"/>
              <a:t>Add bullet point</a:t>
            </a:r>
          </a:p>
        </p:txBody>
      </p:sp>
      <p:sp>
        <p:nvSpPr>
          <p:cNvPr id="11" name="Date Placeholder 3"/>
          <p:cNvSpPr txBox="1">
            <a:spLocks/>
          </p:cNvSpPr>
          <p:nvPr/>
        </p:nvSpPr>
        <p:spPr>
          <a:xfrm>
            <a:off x="381000" y="6356350"/>
            <a:ext cx="2133600" cy="365125"/>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dirty="0"/>
              <a:t>The University of Sydney</a:t>
            </a:r>
          </a:p>
        </p:txBody>
      </p:sp>
      <p:sp>
        <p:nvSpPr>
          <p:cNvPr id="12" name="Slide Number Placeholder 5"/>
          <p:cNvSpPr txBox="1">
            <a:spLocks/>
          </p:cNvSpPr>
          <p:nvPr/>
        </p:nvSpPr>
        <p:spPr>
          <a:xfrm>
            <a:off x="6629400" y="6356350"/>
            <a:ext cx="21336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dirty="0"/>
              <a:t>Page </a:t>
            </a:r>
            <a:fld id="{3B11C02F-2186-5E4E-90C0-5210A150EF90}" type="slidenum">
              <a:rPr lang="en-US" smtClean="0"/>
              <a:pPr fontAlgn="auto">
                <a:spcBef>
                  <a:spcPts val="0"/>
                </a:spcBef>
                <a:spcAft>
                  <a:spcPts val="0"/>
                </a:spcAft>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4" r:id="rId3"/>
    <p:sldLayoutId id="2147483715" r:id="rId4"/>
    <p:sldLayoutId id="2147483716" r:id="rId5"/>
    <p:sldLayoutId id="2147483705" r:id="rId6"/>
    <p:sldLayoutId id="2147483706" r:id="rId7"/>
    <p:sldLayoutId id="2147483707" r:id="rId8"/>
    <p:sldLayoutId id="2147483708" r:id="rId9"/>
    <p:sldLayoutId id="2147483709" r:id="rId10"/>
    <p:sldLayoutId id="2147483710"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11" r:id="rId20"/>
    <p:sldLayoutId id="2147483712" r:id="rId21"/>
    <p:sldLayoutId id="2147483713" r:id="rId22"/>
    <p:sldLayoutId id="2147483714" r:id="rId23"/>
  </p:sldLayoutIdLst>
  <p:txStyles>
    <p:titleStyle>
      <a:lvl1pPr algn="l" defTabSz="457200" rtl="0" eaLnBrk="1" fontAlgn="base" hangingPunct="1">
        <a:spcBef>
          <a:spcPct val="0"/>
        </a:spcBef>
        <a:spcAft>
          <a:spcPct val="0"/>
        </a:spcAft>
        <a:defRPr sz="2800" b="1" kern="1200">
          <a:solidFill>
            <a:schemeClr val="accent1"/>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p:titleStyle>
    <p:bodyStyle>
      <a:lvl1pPr marL="342900" indent="-342900" algn="l" defTabSz="457200" rtl="0" eaLnBrk="1" fontAlgn="base" hangingPunct="1">
        <a:spcBef>
          <a:spcPct val="20000"/>
        </a:spcBef>
        <a:spcAft>
          <a:spcPct val="0"/>
        </a:spcAft>
        <a:buFont typeface="Lucida Grande" charset="0"/>
        <a:buChar char="–"/>
        <a:defRPr sz="24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366941" y="900954"/>
            <a:ext cx="3948874" cy="2268374"/>
          </a:xfrm>
        </p:spPr>
        <p:txBody>
          <a:bodyPr/>
          <a:lstStyle/>
          <a:p>
            <a:r>
              <a:rPr lang="en-US" dirty="0">
                <a:latin typeface="Tw Cen MT" charset="0"/>
              </a:rPr>
              <a:t>Investigating the Co-Dynamics of HIV/AIDS and Influenza in Regional Australia</a:t>
            </a:r>
            <a:br>
              <a:rPr lang="en-US" dirty="0">
                <a:latin typeface="Tw Cen MT" charset="0"/>
              </a:rPr>
            </a:br>
            <a:br>
              <a:rPr lang="en-US" b="0" dirty="0">
                <a:solidFill>
                  <a:schemeClr val="tx1"/>
                </a:solidFill>
                <a:latin typeface="Tw Cen MT" charset="0"/>
              </a:rPr>
            </a:br>
            <a:endParaRPr lang="en-US" b="0" dirty="0">
              <a:solidFill>
                <a:schemeClr val="tx1"/>
              </a:solidFill>
              <a:latin typeface="Tw Cen MT" charset="0"/>
            </a:endParaRPr>
          </a:p>
        </p:txBody>
      </p:sp>
      <p:sp>
        <p:nvSpPr>
          <p:cNvPr id="16386" name="Text Placeholder 2"/>
          <p:cNvSpPr>
            <a:spLocks noGrp="1"/>
          </p:cNvSpPr>
          <p:nvPr>
            <p:ph type="body" sz="quarter" idx="4294967295"/>
          </p:nvPr>
        </p:nvSpPr>
        <p:spPr bwMode="auto">
          <a:xfrm>
            <a:off x="366941" y="3360968"/>
            <a:ext cx="3963817" cy="852488"/>
          </a:xfrm>
        </p:spPr>
        <p:txBody>
          <a:bodyPr wrap="square" numCol="1" anchor="t" anchorCtr="0" compatLnSpc="1">
            <a:prstTxWarp prst="textNoShape">
              <a:avLst/>
            </a:prstTxWarp>
            <a:normAutofit fontScale="55000" lnSpcReduction="20000"/>
          </a:bodyPr>
          <a:lstStyle/>
          <a:p>
            <a:pPr marL="0" indent="0">
              <a:buNone/>
            </a:pPr>
            <a:r>
              <a:rPr lang="en-US" b="1" dirty="0">
                <a:latin typeface="Tw Cen MT" charset="0"/>
              </a:rPr>
              <a:t>Presented by</a:t>
            </a:r>
            <a:endParaRPr lang="en-US" dirty="0">
              <a:latin typeface="Tw Cen MT" charset="0"/>
            </a:endParaRPr>
          </a:p>
          <a:p>
            <a:pPr marL="0" indent="0">
              <a:buNone/>
            </a:pPr>
            <a:r>
              <a:rPr lang="en-US" dirty="0">
                <a:latin typeface="Tw Cen MT" charset="0"/>
              </a:rPr>
              <a:t>Taylor Pan (520431085)</a:t>
            </a:r>
          </a:p>
          <a:p>
            <a:pPr marL="0" indent="0">
              <a:buNone/>
            </a:pPr>
            <a:r>
              <a:rPr lang="en-US" dirty="0">
                <a:latin typeface="Tw Cen MT" charset="0"/>
              </a:rPr>
              <a:t>12CP CS Undergrad Thesis</a:t>
            </a:r>
          </a:p>
          <a:p>
            <a:pPr marL="0" indent="0">
              <a:buNone/>
            </a:pPr>
            <a:r>
              <a:rPr lang="en-US" dirty="0">
                <a:latin typeface="Tw Cen MT" charset="0"/>
              </a:rPr>
              <a:t>Supervisor: Dr Mahendra Piraveenan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dirty="0">
                <a:solidFill>
                  <a:schemeClr val="accent1"/>
                </a:solidFill>
                <a:latin typeface="Tw Cen MT" charset="0"/>
              </a:rPr>
              <a:t>Motivation and Problem</a:t>
            </a:r>
            <a:endParaRPr lang="en-US" b="0" dirty="0">
              <a:solidFill>
                <a:schemeClr val="accent1"/>
              </a:solidFill>
              <a:latin typeface="Tw Cen MT" charset="0"/>
            </a:endParaRPr>
          </a:p>
        </p:txBody>
      </p:sp>
      <p:sp>
        <p:nvSpPr>
          <p:cNvPr id="3" name="Content Placeholder 2"/>
          <p:cNvSpPr>
            <a:spLocks noGrp="1"/>
          </p:cNvSpPr>
          <p:nvPr>
            <p:ph idx="1"/>
          </p:nvPr>
        </p:nvSpPr>
        <p:spPr/>
        <p:txBody>
          <a:bodyPr>
            <a:noAutofit/>
          </a:bodyPr>
          <a:lstStyle/>
          <a:p>
            <a:pPr marL="0" indent="0" fontAlgn="auto">
              <a:spcAft>
                <a:spcPts val="0"/>
              </a:spcAft>
              <a:buFont typeface="Lucida Grande"/>
              <a:buNone/>
              <a:defRPr/>
            </a:pPr>
            <a:r>
              <a:rPr lang="en-US" b="1" dirty="0">
                <a:ea typeface="+mn-ea"/>
              </a:rPr>
              <a:t>Sub-heading bold… 24pt</a:t>
            </a:r>
          </a:p>
          <a:p>
            <a:pPr marL="0" indent="0" fontAlgn="auto">
              <a:spcAft>
                <a:spcPts val="600"/>
              </a:spcAft>
              <a:buFont typeface="Lucida Grande"/>
              <a:buNone/>
              <a:defRPr/>
            </a:pPr>
            <a:r>
              <a:rPr lang="en-US" dirty="0">
                <a:solidFill>
                  <a:prstClr val="black"/>
                </a:solidFill>
                <a:ea typeface="+mn-ea"/>
              </a:rPr>
              <a:t>Body copy… 24pt</a:t>
            </a:r>
          </a:p>
          <a:p>
            <a:pPr fontAlgn="auto">
              <a:spcAft>
                <a:spcPts val="600"/>
              </a:spcAft>
              <a:buFont typeface="Lucida Grande"/>
              <a:buChar char="–"/>
              <a:defRPr/>
            </a:pPr>
            <a:r>
              <a:rPr lang="en-US" dirty="0">
                <a:solidFill>
                  <a:prstClr val="black"/>
                </a:solidFill>
                <a:ea typeface="+mn-ea"/>
              </a:rPr>
              <a:t>Bullet point… 24pt</a:t>
            </a:r>
          </a:p>
          <a:p>
            <a:pPr fontAlgn="auto">
              <a:spcAft>
                <a:spcPts val="600"/>
              </a:spcAft>
              <a:buFont typeface="Lucida Grande"/>
              <a:buChar char="–"/>
              <a:defRPr/>
            </a:pPr>
            <a:r>
              <a:rPr lang="en-US" dirty="0">
                <a:solidFill>
                  <a:prstClr val="black"/>
                </a:solidFill>
                <a:ea typeface="+mn-ea"/>
              </a:rPr>
              <a:t>Bullet point</a:t>
            </a:r>
          </a:p>
        </p:txBody>
      </p:sp>
      <p:graphicFrame>
        <p:nvGraphicFramePr>
          <p:cNvPr id="4" name="Table 3"/>
          <p:cNvGraphicFramePr>
            <a:graphicFrameLocks noGrp="1"/>
          </p:cNvGraphicFramePr>
          <p:nvPr>
            <p:extLst>
              <p:ext uri="{D42A27DB-BD31-4B8C-83A1-F6EECF244321}">
                <p14:modId xmlns:p14="http://schemas.microsoft.com/office/powerpoint/2010/main" val="3942351112"/>
              </p:ext>
            </p:extLst>
          </p:nvPr>
        </p:nvGraphicFramePr>
        <p:xfrm>
          <a:off x="457201" y="3470672"/>
          <a:ext cx="6311151" cy="1676400"/>
        </p:xfrm>
        <a:graphic>
          <a:graphicData uri="http://schemas.openxmlformats.org/drawingml/2006/table">
            <a:tbl>
              <a:tblPr firstRow="1" bandRow="1">
                <a:tableStyleId>{0660B408-B3CF-4A94-85FC-2B1E0A45F4A2}</a:tableStyleId>
              </a:tblPr>
              <a:tblGrid>
                <a:gridCol w="2103717">
                  <a:extLst>
                    <a:ext uri="{9D8B030D-6E8A-4147-A177-3AD203B41FA5}">
                      <a16:colId xmlns:a16="http://schemas.microsoft.com/office/drawing/2014/main" val="20000"/>
                    </a:ext>
                  </a:extLst>
                </a:gridCol>
                <a:gridCol w="2103717">
                  <a:extLst>
                    <a:ext uri="{9D8B030D-6E8A-4147-A177-3AD203B41FA5}">
                      <a16:colId xmlns:a16="http://schemas.microsoft.com/office/drawing/2014/main" val="20001"/>
                    </a:ext>
                  </a:extLst>
                </a:gridCol>
                <a:gridCol w="2103717">
                  <a:extLst>
                    <a:ext uri="{9D8B030D-6E8A-4147-A177-3AD203B41FA5}">
                      <a16:colId xmlns:a16="http://schemas.microsoft.com/office/drawing/2014/main" val="20002"/>
                    </a:ext>
                  </a:extLst>
                </a:gridCol>
              </a:tblGrid>
              <a:tr h="332754">
                <a:tc>
                  <a:txBody>
                    <a:bodyPr/>
                    <a:lstStyle/>
                    <a:p>
                      <a:r>
                        <a:rPr lang="en-US" sz="1600" dirty="0">
                          <a:latin typeface="Tw Cen MT"/>
                          <a:cs typeface="Tw Cen MT"/>
                        </a:rPr>
                        <a:t>Heading</a:t>
                      </a:r>
                      <a:r>
                        <a:rPr lang="en-US" sz="1600" baseline="0" dirty="0">
                          <a:latin typeface="Tw Cen MT"/>
                          <a:cs typeface="Tw Cen MT"/>
                        </a:rPr>
                        <a:t> 1</a:t>
                      </a:r>
                      <a:endParaRPr lang="en-US" sz="1600" dirty="0">
                        <a:latin typeface="Tw Cen MT"/>
                        <a:cs typeface="Tw Cen MT"/>
                      </a:endParaRPr>
                    </a:p>
                  </a:txBody>
                  <a:tcPr>
                    <a:lnB w="6350" cap="flat" cmpd="sng" algn="ctr">
                      <a:solidFill>
                        <a:srgbClr val="F05133"/>
                      </a:solidFill>
                      <a:prstDash val="solid"/>
                      <a:round/>
                      <a:headEnd type="none" w="med" len="med"/>
                      <a:tailEnd type="none" w="med" len="med"/>
                    </a:lnB>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latin typeface="Tw Cen MT"/>
                          <a:cs typeface="Tw Cen MT"/>
                        </a:rPr>
                        <a:t>Heading</a:t>
                      </a:r>
                      <a:r>
                        <a:rPr lang="en-US" sz="1600" baseline="0" dirty="0">
                          <a:latin typeface="Tw Cen MT"/>
                          <a:cs typeface="Tw Cen MT"/>
                        </a:rPr>
                        <a:t> 2</a:t>
                      </a:r>
                      <a:endParaRPr lang="en-US" sz="1600" dirty="0">
                        <a:latin typeface="Tw Cen MT"/>
                        <a:cs typeface="Tw Cen MT"/>
                      </a:endParaRPr>
                    </a:p>
                  </a:txBody>
                  <a:tcPr>
                    <a:lnB w="6350" cap="flat" cmpd="sng" algn="ctr">
                      <a:solidFill>
                        <a:srgbClr val="F05133"/>
                      </a:solidFill>
                      <a:prstDash val="solid"/>
                      <a:round/>
                      <a:headEnd type="none" w="med" len="med"/>
                      <a:tailEnd type="none" w="med" len="med"/>
                    </a:lnB>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latin typeface="Tw Cen MT"/>
                          <a:cs typeface="Tw Cen MT"/>
                        </a:rPr>
                        <a:t>Heading</a:t>
                      </a:r>
                      <a:r>
                        <a:rPr lang="en-US" sz="1600" baseline="0" dirty="0">
                          <a:latin typeface="Tw Cen MT"/>
                          <a:cs typeface="Tw Cen MT"/>
                        </a:rPr>
                        <a:t> 3</a:t>
                      </a:r>
                      <a:endParaRPr lang="en-US" sz="1600" dirty="0">
                        <a:latin typeface="Tw Cen MT"/>
                        <a:cs typeface="Tw Cen MT"/>
                      </a:endParaRPr>
                    </a:p>
                  </a:txBody>
                  <a:tcPr>
                    <a:lnB w="6350" cap="flat" cmpd="sng" algn="ctr">
                      <a:solidFill>
                        <a:srgbClr val="F05133"/>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86765">
                <a:tc>
                  <a:txBody>
                    <a:bodyPr/>
                    <a:lstStyle/>
                    <a:p>
                      <a:pPr marL="0" marR="0" indent="0" algn="l" defTabSz="457187" rtl="0" eaLnBrk="1" fontAlgn="auto" latinLnBrk="0" hangingPunct="1">
                        <a:lnSpc>
                          <a:spcPct val="100000"/>
                        </a:lnSpc>
                        <a:spcBef>
                          <a:spcPts val="0"/>
                        </a:spcBef>
                        <a:spcAft>
                          <a:spcPts val="0"/>
                        </a:spcAft>
                        <a:buClrTx/>
                        <a:buSzTx/>
                        <a:buFontTx/>
                        <a:buNone/>
                        <a:tabLst/>
                        <a:defRPr/>
                      </a:pPr>
                      <a:r>
                        <a:rPr lang="en-US" sz="1600" dirty="0">
                          <a:latin typeface="Tw Cen MT"/>
                          <a:cs typeface="Tw Cen MT"/>
                        </a:rPr>
                        <a:t>Body</a:t>
                      </a:r>
                      <a:r>
                        <a:rPr lang="en-US" sz="1600" baseline="0" dirty="0">
                          <a:latin typeface="Tw Cen MT"/>
                          <a:cs typeface="Tw Cen MT"/>
                        </a:rPr>
                        <a:t> copy</a:t>
                      </a:r>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pPr marL="0" marR="0" indent="0" algn="l" defTabSz="457187" rtl="0" eaLnBrk="1" fontAlgn="auto" latinLnBrk="0" hangingPunct="1">
                        <a:lnSpc>
                          <a:spcPct val="100000"/>
                        </a:lnSpc>
                        <a:spcBef>
                          <a:spcPts val="0"/>
                        </a:spcBef>
                        <a:spcAft>
                          <a:spcPts val="0"/>
                        </a:spcAft>
                        <a:buClrTx/>
                        <a:buSzTx/>
                        <a:buFontTx/>
                        <a:buNone/>
                        <a:tabLst/>
                        <a:defRPr/>
                      </a:pPr>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pPr marL="0" marR="0" indent="0" algn="l" defTabSz="457187" rtl="0" eaLnBrk="1" fontAlgn="auto" latinLnBrk="0" hangingPunct="1">
                        <a:lnSpc>
                          <a:spcPct val="100000"/>
                        </a:lnSpc>
                        <a:spcBef>
                          <a:spcPts val="0"/>
                        </a:spcBef>
                        <a:spcAft>
                          <a:spcPts val="0"/>
                        </a:spcAft>
                        <a:buClrTx/>
                        <a:buSzTx/>
                        <a:buFontTx/>
                        <a:buNone/>
                        <a:tabLst/>
                        <a:defRPr/>
                      </a:pPr>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extLst>
                  <a:ext uri="{0D108BD9-81ED-4DB2-BD59-A6C34878D82A}">
                    <a16:rowId xmlns:a16="http://schemas.microsoft.com/office/drawing/2014/main" val="10001"/>
                  </a:ext>
                </a:extLst>
              </a:tr>
              <a:tr h="196327">
                <a:tc>
                  <a:txBody>
                    <a:bodyPr/>
                    <a:lstStyle/>
                    <a:p>
                      <a:r>
                        <a:rPr lang="en-US" sz="1600" dirty="0">
                          <a:latin typeface="Tw Cen MT"/>
                          <a:cs typeface="Tw Cen MT"/>
                        </a:rPr>
                        <a:t>xxx</a:t>
                      </a: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extLst>
                  <a:ext uri="{0D108BD9-81ED-4DB2-BD59-A6C34878D82A}">
                    <a16:rowId xmlns:a16="http://schemas.microsoft.com/office/drawing/2014/main" val="10002"/>
                  </a:ext>
                </a:extLst>
              </a:tr>
              <a:tr h="138654">
                <a:tc>
                  <a:txBody>
                    <a:bodyPr/>
                    <a:lstStyle/>
                    <a:p>
                      <a:r>
                        <a:rPr lang="en-US" sz="1600" dirty="0">
                          <a:latin typeface="Tw Cen MT"/>
                          <a:cs typeface="Tw Cen MT"/>
                        </a:rPr>
                        <a:t>xxx</a:t>
                      </a: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tc>
                  <a:txBody>
                    <a:bodyPr/>
                    <a:lstStyle/>
                    <a:p>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lnB w="6350" cap="flat" cmpd="sng" algn="ctr">
                      <a:solidFill>
                        <a:srgbClr val="F05133"/>
                      </a:solidFill>
                      <a:prstDash val="solid"/>
                      <a:round/>
                      <a:headEnd type="none" w="med" len="med"/>
                      <a:tailEnd type="none" w="med" len="med"/>
                    </a:lnB>
                  </a:tcPr>
                </a:tc>
                <a:extLst>
                  <a:ext uri="{0D108BD9-81ED-4DB2-BD59-A6C34878D82A}">
                    <a16:rowId xmlns:a16="http://schemas.microsoft.com/office/drawing/2014/main" val="10003"/>
                  </a:ext>
                </a:extLst>
              </a:tr>
              <a:tr h="125805">
                <a:tc>
                  <a:txBody>
                    <a:bodyPr/>
                    <a:lstStyle/>
                    <a:p>
                      <a:r>
                        <a:rPr lang="en-US" sz="1600" dirty="0">
                          <a:latin typeface="Tw Cen MT"/>
                          <a:cs typeface="Tw Cen MT"/>
                        </a:rPr>
                        <a:t>xxx</a:t>
                      </a:r>
                    </a:p>
                  </a:txBody>
                  <a:tcPr>
                    <a:lnT w="6350" cap="flat" cmpd="sng" algn="ctr">
                      <a:solidFill>
                        <a:srgbClr val="F05133"/>
                      </a:solidFill>
                      <a:prstDash val="solid"/>
                      <a:round/>
                      <a:headEnd type="none" w="med" len="med"/>
                      <a:tailEnd type="none" w="med" len="med"/>
                    </a:lnT>
                  </a:tcPr>
                </a:tc>
                <a:tc>
                  <a:txBody>
                    <a:bodyPr/>
                    <a:lstStyle/>
                    <a:p>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tcPr>
                </a:tc>
                <a:tc>
                  <a:txBody>
                    <a:bodyPr/>
                    <a:lstStyle/>
                    <a:p>
                      <a:endParaRPr lang="en-US" sz="1600" dirty="0">
                        <a:latin typeface="Tw Cen MT"/>
                        <a:cs typeface="Tw Cen MT"/>
                      </a:endParaRPr>
                    </a:p>
                  </a:txBody>
                  <a:tcPr>
                    <a:lnT w="6350" cap="flat" cmpd="sng" algn="ctr">
                      <a:solidFill>
                        <a:srgbClr val="F05133"/>
                      </a:solidFill>
                      <a:prstDash val="solid"/>
                      <a:round/>
                      <a:headEnd type="none" w="med" len="med"/>
                      <a:tailEnd type="none" w="med" len="med"/>
                    </a:lnT>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a:graphicFrameLocks/>
          </p:cNvGraphicFramePr>
          <p:nvPr>
            <p:extLst>
              <p:ext uri="{D42A27DB-BD31-4B8C-83A1-F6EECF244321}">
                <p14:modId xmlns:p14="http://schemas.microsoft.com/office/powerpoint/2010/main" val="2799981844"/>
              </p:ext>
            </p:extLst>
          </p:nvPr>
        </p:nvGraphicFramePr>
        <p:xfrm>
          <a:off x="457200" y="1359925"/>
          <a:ext cx="4191000" cy="4131238"/>
        </p:xfrm>
        <a:graphic>
          <a:graphicData uri="http://schemas.openxmlformats.org/drawingml/2006/chart">
            <c:chart xmlns:c="http://schemas.openxmlformats.org/drawingml/2006/chart" xmlns:r="http://schemas.openxmlformats.org/officeDocument/2006/relationships" r:id="rId2"/>
          </a:graphicData>
        </a:graphic>
      </p:graphicFrame>
      <p:sp>
        <p:nvSpPr>
          <p:cNvPr id="18434" name="Title 5"/>
          <p:cNvSpPr>
            <a:spLocks noGrp="1"/>
          </p:cNvSpPr>
          <p:nvPr>
            <p:ph type="title"/>
          </p:nvPr>
        </p:nvSpPr>
        <p:spPr/>
        <p:txBody>
          <a:bodyPr/>
          <a:lstStyle/>
          <a:p>
            <a:r>
              <a:rPr lang="en-US" dirty="0">
                <a:solidFill>
                  <a:srgbClr val="E64626"/>
                </a:solidFill>
                <a:latin typeface="Tw Cen MT" charset="0"/>
              </a:rPr>
              <a:t>Slide title… 28pt font size</a:t>
            </a:r>
          </a:p>
        </p:txBody>
      </p:sp>
      <p:sp>
        <p:nvSpPr>
          <p:cNvPr id="18436" name="Text Placeholder 1"/>
          <p:cNvSpPr>
            <a:spLocks noGrp="1"/>
          </p:cNvSpPr>
          <p:nvPr>
            <p:ph sz="half" idx="2"/>
          </p:nvPr>
        </p:nvSpPr>
        <p:spPr bwMode="auto"/>
        <p:txBody>
          <a:bodyPr wrap="square" numCol="1" anchor="t" anchorCtr="0" compatLnSpc="1">
            <a:prstTxWarp prst="textNoShape">
              <a:avLst/>
            </a:prstTxWarp>
          </a:bodyPr>
          <a:lstStyle/>
          <a:p>
            <a:pPr marL="0" indent="0">
              <a:buNone/>
            </a:pPr>
            <a:r>
              <a:rPr lang="en-US" dirty="0">
                <a:latin typeface="Tw Cen MT" charset="0"/>
              </a:rPr>
              <a:t>Please use this graph to ensure the </a:t>
            </a:r>
            <a:r>
              <a:rPr lang="en-US" dirty="0" err="1">
                <a:latin typeface="Tw Cen MT" charset="0"/>
              </a:rPr>
              <a:t>colour</a:t>
            </a:r>
            <a:r>
              <a:rPr lang="en-US" dirty="0">
                <a:latin typeface="Tw Cen MT" charset="0"/>
              </a:rPr>
              <a:t> theme is consistent.</a:t>
            </a:r>
          </a:p>
        </p:txBody>
      </p:sp>
      <p:sp>
        <p:nvSpPr>
          <p:cNvPr id="3" name="Text Placeholder 2"/>
          <p:cNvSpPr>
            <a:spLocks noGrp="1"/>
          </p:cNvSpPr>
          <p:nvPr>
            <p:ph type="body" sz="quarter" idx="11"/>
          </p:nvPr>
        </p:nvSpPr>
        <p:spPr/>
        <p:txBody>
          <a:bodyPr/>
          <a:lstStyle/>
          <a:p>
            <a:r>
              <a:rPr lang="en-US" dirty="0"/>
              <a:t>Place caption here if required</a:t>
            </a:r>
          </a:p>
        </p:txBody>
      </p:sp>
    </p:spTree>
    <p:extLst>
      <p:ext uri="{BB962C8B-B14F-4D97-AF65-F5344CB8AC3E}">
        <p14:creationId xmlns:p14="http://schemas.microsoft.com/office/powerpoint/2010/main" val="3054899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ble Placeholder 1">
            <a:extLst>
              <a:ext uri="{FF2B5EF4-FFF2-40B4-BE49-F238E27FC236}">
                <a16:creationId xmlns:a16="http://schemas.microsoft.com/office/drawing/2014/main" id="{CA66D054-BEC4-66D5-A499-918507F414F1}"/>
              </a:ext>
            </a:extLst>
          </p:cNvPr>
          <p:cNvSpPr>
            <a:spLocks noGrp="1"/>
          </p:cNvSpPr>
          <p:nvPr>
            <p:ph type="tbl" sz="quarter" idx="12"/>
          </p:nvPr>
        </p:nvSpPr>
        <p:spPr/>
        <p:txBody>
          <a:bodyPr/>
          <a:lstStyle/>
          <a:p>
            <a:endParaRPr lang="en-AU"/>
          </a:p>
        </p:txBody>
      </p:sp>
      <p:sp>
        <p:nvSpPr>
          <p:cNvPr id="3" name="Title 2">
            <a:extLst>
              <a:ext uri="{FF2B5EF4-FFF2-40B4-BE49-F238E27FC236}">
                <a16:creationId xmlns:a16="http://schemas.microsoft.com/office/drawing/2014/main" id="{7D34F79C-D3D6-EFB4-FC91-4E089A9BB58F}"/>
              </a:ext>
            </a:extLst>
          </p:cNvPr>
          <p:cNvSpPr>
            <a:spLocks noGrp="1"/>
          </p:cNvSpPr>
          <p:nvPr>
            <p:ph type="title"/>
          </p:nvPr>
        </p:nvSpPr>
        <p:spPr/>
        <p:txBody>
          <a:bodyPr/>
          <a:lstStyle/>
          <a:p>
            <a:endParaRPr lang="en-AU"/>
          </a:p>
        </p:txBody>
      </p:sp>
      <p:sp>
        <p:nvSpPr>
          <p:cNvPr id="4" name="Content Placeholder 3">
            <a:extLst>
              <a:ext uri="{FF2B5EF4-FFF2-40B4-BE49-F238E27FC236}">
                <a16:creationId xmlns:a16="http://schemas.microsoft.com/office/drawing/2014/main" id="{71291DB5-6CEC-B5E4-35B8-5DC0ED2D8A3C}"/>
              </a:ext>
            </a:extLst>
          </p:cNvPr>
          <p:cNvSpPr>
            <a:spLocks noGrp="1"/>
          </p:cNvSpPr>
          <p:nvPr>
            <p:ph sz="half" idx="2"/>
          </p:nvPr>
        </p:nvSpPr>
        <p:spPr/>
        <p:txBody>
          <a:bodyPr/>
          <a:lstStyle/>
          <a:p>
            <a:endParaRPr lang="en-AU" dirty="0"/>
          </a:p>
        </p:txBody>
      </p:sp>
      <p:sp>
        <p:nvSpPr>
          <p:cNvPr id="5" name="Text Placeholder 4">
            <a:extLst>
              <a:ext uri="{FF2B5EF4-FFF2-40B4-BE49-F238E27FC236}">
                <a16:creationId xmlns:a16="http://schemas.microsoft.com/office/drawing/2014/main" id="{1FCB72AB-F47A-3498-3BCD-8C2FC3217CA0}"/>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3154755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ble Placeholder 1">
            <a:extLst>
              <a:ext uri="{FF2B5EF4-FFF2-40B4-BE49-F238E27FC236}">
                <a16:creationId xmlns:a16="http://schemas.microsoft.com/office/drawing/2014/main" id="{3BCC14BB-B727-66D9-9B5C-EB1AB5CC796C}"/>
              </a:ext>
            </a:extLst>
          </p:cNvPr>
          <p:cNvSpPr>
            <a:spLocks noGrp="1"/>
          </p:cNvSpPr>
          <p:nvPr>
            <p:ph type="tbl" sz="quarter" idx="12"/>
          </p:nvPr>
        </p:nvSpPr>
        <p:spPr/>
        <p:txBody>
          <a:bodyPr/>
          <a:lstStyle/>
          <a:p>
            <a:endParaRPr lang="en-AU"/>
          </a:p>
        </p:txBody>
      </p:sp>
      <p:sp>
        <p:nvSpPr>
          <p:cNvPr id="3" name="Title 2">
            <a:extLst>
              <a:ext uri="{FF2B5EF4-FFF2-40B4-BE49-F238E27FC236}">
                <a16:creationId xmlns:a16="http://schemas.microsoft.com/office/drawing/2014/main" id="{CC95C3D4-3581-2639-A0A8-DBD8B85D2375}"/>
              </a:ext>
            </a:extLst>
          </p:cNvPr>
          <p:cNvSpPr>
            <a:spLocks noGrp="1"/>
          </p:cNvSpPr>
          <p:nvPr>
            <p:ph type="title"/>
          </p:nvPr>
        </p:nvSpPr>
        <p:spPr/>
        <p:txBody>
          <a:bodyPr/>
          <a:lstStyle/>
          <a:p>
            <a:r>
              <a:rPr lang="en-AU" dirty="0"/>
              <a:t>Yeah </a:t>
            </a:r>
          </a:p>
        </p:txBody>
      </p:sp>
      <p:sp>
        <p:nvSpPr>
          <p:cNvPr id="4" name="Content Placeholder 3">
            <a:extLst>
              <a:ext uri="{FF2B5EF4-FFF2-40B4-BE49-F238E27FC236}">
                <a16:creationId xmlns:a16="http://schemas.microsoft.com/office/drawing/2014/main" id="{5B48ECAB-2B8F-9737-4B1E-FD125F58D3D3}"/>
              </a:ext>
            </a:extLst>
          </p:cNvPr>
          <p:cNvSpPr>
            <a:spLocks noGrp="1"/>
          </p:cNvSpPr>
          <p:nvPr>
            <p:ph sz="half" idx="2"/>
          </p:nvPr>
        </p:nvSpPr>
        <p:spPr/>
        <p:txBody>
          <a:bodyPr/>
          <a:lstStyle/>
          <a:p>
            <a:endParaRPr lang="en-AU"/>
          </a:p>
        </p:txBody>
      </p:sp>
      <p:sp>
        <p:nvSpPr>
          <p:cNvPr id="5" name="Text Placeholder 4">
            <a:extLst>
              <a:ext uri="{FF2B5EF4-FFF2-40B4-BE49-F238E27FC236}">
                <a16:creationId xmlns:a16="http://schemas.microsoft.com/office/drawing/2014/main" id="{A5A2449F-A1B9-91F2-D0C5-398F438CFD61}"/>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3748420405"/>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Investigating the Co-Dynamics of HIV/AIDS and Influenza in Regional Australia (Bourke, NSW)</a:t>
            </a:r>
          </a:p>
        </p:txBody>
      </p:sp>
      <p:sp>
        <p:nvSpPr>
          <p:cNvPr id="3" name="Content Placeholder 2"/>
          <p:cNvSpPr>
            <a:spLocks noGrp="1"/>
          </p:cNvSpPr>
          <p:nvPr>
            <p:ph idx="1"/>
          </p:nvPr>
        </p:nvSpPr>
        <p:spPr/>
        <p:txBody>
          <a:bodyPr/>
          <a:lstStyle/>
          <a:p>
            <a:pPr>
              <a:defRPr sz="1800"/>
            </a:pPr>
            <a:r>
              <a:t>Author: Taylor Pan</a:t>
            </a:r>
          </a:p>
          <a:p>
            <a:pPr>
              <a:defRPr sz="1800"/>
            </a:pPr>
            <a:r>
              <a:t>Supervisor: Dr Mahendra Piraveenan</a:t>
            </a:r>
          </a:p>
          <a:p>
            <a:pPr>
              <a:defRPr sz="1800"/>
            </a:pPr>
            <a:r>
              <a:t>Bachelor of Advanced Computing</a:t>
            </a:r>
          </a:p>
          <a:p>
            <a:pPr>
              <a:defRPr sz="1800"/>
            </a:pPr>
            <a:r>
              <a:t>School of Computer Science, University of Sydney</a:t>
            </a:r>
          </a:p>
          <a:p>
            <a:pPr>
              <a:defRPr sz="1800"/>
            </a:pPr>
            <a:r>
              <a:t>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&amp; Problem</a:t>
            </a:r>
          </a:p>
        </p:txBody>
      </p:sp>
      <p:sp>
        <p:nvSpPr>
          <p:cNvPr id="3" name="Content Placeholder 2"/>
          <p:cNvSpPr>
            <a:spLocks noGrp="1"/>
          </p:cNvSpPr>
          <p:nvPr>
            <p:ph idx="1"/>
          </p:nvPr>
        </p:nvSpPr>
        <p:spPr/>
        <p:txBody>
          <a:bodyPr/>
          <a:lstStyle/>
          <a:p>
            <a:pPr>
              <a:defRPr sz="1800"/>
            </a:pPr>
            <a:r>
              <a:t>• Regional and Indigenous populations face higher infectious disease burdens.</a:t>
            </a:r>
          </a:p>
          <a:p>
            <a:pPr>
              <a:defRPr sz="1800"/>
            </a:pPr>
            <a:r>
              <a:t>• HIV compromises immunity → may amplify flu transmission.</a:t>
            </a:r>
          </a:p>
          <a:p>
            <a:pPr>
              <a:defRPr sz="1800"/>
            </a:pPr>
            <a:r>
              <a:t>• Limited research on HIV–Influenza co-dynamics in regional Australia.</a:t>
            </a:r>
          </a:p>
          <a:p>
            <a:pPr>
              <a:defRPr sz="1800"/>
            </a:pPr>
            <a:r>
              <a:t>• Bourke: 2,340 residents, 30.3% Indigenous (ABS,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Aim &amp; Objectives</a:t>
            </a:r>
          </a:p>
        </p:txBody>
      </p:sp>
      <p:sp>
        <p:nvSpPr>
          <p:cNvPr id="3" name="Content Placeholder 2"/>
          <p:cNvSpPr>
            <a:spLocks noGrp="1"/>
          </p:cNvSpPr>
          <p:nvPr>
            <p:ph idx="1"/>
          </p:nvPr>
        </p:nvSpPr>
        <p:spPr/>
        <p:txBody>
          <a:bodyPr/>
          <a:lstStyle/>
          <a:p>
            <a:pPr>
              <a:defRPr sz="1800"/>
            </a:pPr>
            <a:r>
              <a:t>Aim: Model HIV/Influenza co-dynamics in Bourke, NSW.</a:t>
            </a:r>
          </a:p>
          <a:p>
            <a:pPr>
              <a:defRPr sz="1800"/>
            </a:pPr>
          </a:p>
          <a:p>
            <a:pPr>
              <a:defRPr sz="1800"/>
            </a:pPr>
            <a:r>
              <a:t>Objectives:</a:t>
            </a:r>
          </a:p>
          <a:p>
            <a:pPr>
              <a:defRPr sz="1800"/>
            </a:pPr>
            <a:r>
              <a:t>• Build synthetic population using ABS 2021 data.</a:t>
            </a:r>
          </a:p>
          <a:p>
            <a:pPr>
              <a:defRPr sz="1800"/>
            </a:pPr>
            <a:r>
              <a:t>• Simulate HIV and influenza spread using Python + NetworkX.</a:t>
            </a:r>
          </a:p>
          <a:p>
            <a:pPr>
              <a:defRPr sz="1800"/>
            </a:pPr>
            <a:r>
              <a:t>• Assess co-infection interactions.</a:t>
            </a:r>
          </a:p>
          <a:p>
            <a:pPr>
              <a:defRPr sz="1800"/>
            </a:pPr>
            <a:r>
              <a:t>• Derive public health implications.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Background</a:t>
            </a:r>
          </a:p>
        </p:txBody>
      </p:sp>
      <p:sp>
        <p:nvSpPr>
          <p:cNvPr id="3" name="Content Placeholder 2"/>
          <p:cNvSpPr>
            <a:spLocks noGrp="1"/>
          </p:cNvSpPr>
          <p:nvPr>
            <p:ph idx="1"/>
          </p:nvPr>
        </p:nvSpPr>
        <p:spPr/>
        <p:txBody>
          <a:bodyPr/>
          <a:lstStyle/>
          <a:p>
            <a:pPr>
              <a:defRPr sz="1800"/>
            </a:pPr>
            <a:r>
              <a:t>• HIV: slow sexual transmission, chronic infection.</a:t>
            </a:r>
          </a:p>
          <a:p>
            <a:pPr>
              <a:defRPr sz="1800"/>
            </a:pPr>
            <a:r>
              <a:t>• Influenza: fast airborne spread, short duration.</a:t>
            </a:r>
          </a:p>
          <a:p>
            <a:pPr>
              <a:defRPr sz="1800"/>
            </a:pPr>
            <a:r>
              <a:t>• Immunocompromised hosts = longer flu duration and higher severity.</a:t>
            </a:r>
          </a:p>
          <a:p>
            <a:pPr>
              <a:defRPr sz="1800"/>
            </a:pPr>
            <a:r>
              <a:t>• Few existing models examine HIV–Influenza interactions in small communities.</a:t>
            </a:r>
          </a:p>
          <a:p>
            <a:pPr>
              <a:defRPr sz="1800"/>
            </a:pPr>
          </a:p>
          <a:p>
            <a:pPr>
              <a:defRPr sz="1800"/>
            </a:pPr>
            <a:r>
              <a:t>[Insert Venn diagram placeholder]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Epidemiological Modelling Framework</a:t>
            </a:r>
          </a:p>
        </p:txBody>
      </p:sp>
      <p:sp>
        <p:nvSpPr>
          <p:cNvPr id="3" name="Content Placeholder 2"/>
          <p:cNvSpPr>
            <a:spLocks noGrp="1"/>
          </p:cNvSpPr>
          <p:nvPr>
            <p:ph idx="1"/>
          </p:nvPr>
        </p:nvSpPr>
        <p:spPr/>
        <p:txBody>
          <a:bodyPr/>
          <a:lstStyle/>
          <a:p>
            <a:pPr>
              <a:defRPr sz="1800"/>
            </a:pPr>
            <a:r>
              <a:t>• Network-based model (Barabási–Albert structure).</a:t>
            </a:r>
          </a:p>
          <a:p>
            <a:pPr>
              <a:defRPr sz="1800"/>
            </a:pPr>
            <a:r>
              <a:t>• Nodes = individuals (age, gender, Indigenous status, infection states).</a:t>
            </a:r>
          </a:p>
          <a:p>
            <a:pPr>
              <a:defRPr sz="1800"/>
            </a:pPr>
            <a:r>
              <a:t>• Edges = sexual partnerships.</a:t>
            </a:r>
          </a:p>
          <a:p>
            <a:pPr>
              <a:defRPr sz="1800"/>
            </a:pPr>
            <a:r>
              <a:t>• Influenza spreads through community mixing.</a:t>
            </a:r>
          </a:p>
          <a:p>
            <a:pPr>
              <a:defRPr sz="1800"/>
            </a:pPr>
          </a:p>
          <a:p>
            <a:pPr>
              <a:defRPr sz="1800"/>
            </a:pPr>
            <a:r>
              <a:t>[Insert Model Structure Diagram]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Architecture</a:t>
            </a:r>
          </a:p>
        </p:txBody>
      </p:sp>
      <p:sp>
        <p:nvSpPr>
          <p:cNvPr id="3" name="Content Placeholder 2"/>
          <p:cNvSpPr>
            <a:spLocks noGrp="1"/>
          </p:cNvSpPr>
          <p:nvPr>
            <p:ph idx="1"/>
          </p:nvPr>
        </p:nvSpPr>
        <p:spPr/>
        <p:txBody>
          <a:bodyPr/>
          <a:lstStyle/>
          <a:p>
            <a:pPr>
              <a:defRPr sz="1800"/>
            </a:pPr>
            <a:r>
              <a:t>Modules:</a:t>
            </a:r>
          </a:p>
          <a:p>
            <a:pPr>
              <a:defRPr sz="1800"/>
            </a:pPr>
            <a:r>
              <a:t>• population_functions.py – generate population</a:t>
            </a:r>
          </a:p>
          <a:p>
            <a:pPr>
              <a:defRPr sz="1800"/>
            </a:pPr>
            <a:r>
              <a:t>• relationship_functions.py – form/dissolve relationships</a:t>
            </a:r>
          </a:p>
          <a:p>
            <a:pPr>
              <a:defRPr sz="1800"/>
            </a:pPr>
            <a:r>
              <a:t>• disease.py – transmission &amp; recovery rules</a:t>
            </a:r>
          </a:p>
          <a:p>
            <a:pPr>
              <a:defRPr sz="1800"/>
            </a:pPr>
            <a:r>
              <a:t>• main.py – simulation loop and output</a:t>
            </a:r>
          </a:p>
          <a:p>
            <a:pPr>
              <a:defRPr sz="1800"/>
            </a:pPr>
          </a:p>
          <a:p>
            <a:pPr>
              <a:defRPr sz="1800"/>
            </a:pPr>
            <a:r>
              <a:t>[Insert Flowchart Placeholder]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Population Generation</a:t>
            </a:r>
          </a:p>
        </p:txBody>
      </p:sp>
      <p:sp>
        <p:nvSpPr>
          <p:cNvPr id="3" name="Content Placeholder 2"/>
          <p:cNvSpPr>
            <a:spLocks noGrp="1"/>
          </p:cNvSpPr>
          <p:nvPr>
            <p:ph idx="1"/>
          </p:nvPr>
        </p:nvSpPr>
        <p:spPr/>
        <p:txBody>
          <a:bodyPr/>
          <a:lstStyle/>
          <a:p>
            <a:pPr>
              <a:defRPr sz="1800"/>
            </a:pPr>
            <a:r>
              <a:t>• 2,340 individuals generated.</a:t>
            </a:r>
          </a:p>
          <a:p>
            <a:pPr>
              <a:defRPr sz="1800"/>
            </a:pPr>
            <a:r>
              <a:t>• Demographics reflect ABS data.</a:t>
            </a:r>
          </a:p>
          <a:p>
            <a:pPr>
              <a:defRPr sz="1800"/>
            </a:pPr>
            <a:r>
              <a:t>• 30.3% Aboriginal and Torres Strait Islander.</a:t>
            </a:r>
          </a:p>
          <a:p>
            <a:pPr>
              <a:defRPr sz="1800"/>
            </a:pPr>
            <a:r>
              <a:t>• 20 initial HIV infections seeded.</a:t>
            </a:r>
          </a:p>
          <a:p>
            <a:pPr>
              <a:defRPr sz="1800"/>
            </a:pPr>
          </a:p>
          <a:p>
            <a:pPr>
              <a:defRPr sz="1800"/>
            </a:pPr>
            <a:r>
              <a:t>[Insert Age Distribution Graph]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 Formation</a:t>
            </a:r>
          </a:p>
        </p:txBody>
      </p:sp>
      <p:sp>
        <p:nvSpPr>
          <p:cNvPr id="3" name="Content Placeholder 2"/>
          <p:cNvSpPr>
            <a:spLocks noGrp="1"/>
          </p:cNvSpPr>
          <p:nvPr>
            <p:ph idx="1"/>
          </p:nvPr>
        </p:nvSpPr>
        <p:spPr/>
        <p:txBody>
          <a:bodyPr/>
          <a:lstStyle/>
          <a:p>
            <a:pPr>
              <a:defRPr sz="1800"/>
            </a:pPr>
            <a:r>
              <a:t>• 14% daily chance to form new relationship (≈ weekly intercourse).</a:t>
            </a:r>
          </a:p>
          <a:p>
            <a:pPr>
              <a:defRPr sz="1800"/>
            </a:pPr>
            <a:r>
              <a:t>• Age gap ≤ 10 years.</a:t>
            </a:r>
          </a:p>
          <a:p>
            <a:pPr>
              <a:defRPr sz="1800"/>
            </a:pPr>
            <a:r>
              <a:t>• Monogamous.</a:t>
            </a:r>
          </a:p>
          <a:p>
            <a:pPr>
              <a:defRPr sz="1800"/>
            </a:pPr>
            <a:r>
              <a:t>• Homophily = 0.7 (same Indigenous status more likely).</a:t>
            </a:r>
          </a:p>
          <a:p>
            <a:pPr>
              <a:defRPr sz="1800"/>
            </a:pPr>
            <a:r>
              <a:t>• 2% daily breakup probability.</a:t>
            </a:r>
          </a:p>
          <a:p>
            <a:pPr>
              <a:defRPr sz="1800"/>
            </a:pPr>
          </a:p>
          <a:p>
            <a:pPr>
              <a:defRPr sz="1800"/>
            </a:pPr>
            <a:r>
              <a:t>[Insert Relationship Network Placeholder]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HIV Transmission Parameters</a:t>
            </a:r>
          </a:p>
        </p:txBody>
      </p:sp>
      <p:sp>
        <p:nvSpPr>
          <p:cNvPr id="3" name="Content Placeholder 2"/>
          <p:cNvSpPr>
            <a:spLocks noGrp="1"/>
          </p:cNvSpPr>
          <p:nvPr>
            <p:ph idx="1"/>
          </p:nvPr>
        </p:nvSpPr>
        <p:spPr/>
        <p:txBody>
          <a:bodyPr/>
          <a:lstStyle/>
          <a:p>
            <a:pPr>
              <a:defRPr sz="1800"/>
            </a:pPr>
            <a:r>
              <a:t>• Male → Female: 1 in 1,234.</a:t>
            </a:r>
          </a:p>
          <a:p>
            <a:pPr>
              <a:defRPr sz="1800"/>
            </a:pPr>
            <a:r>
              <a:t>• Female → Male: 1 in 2,380.</a:t>
            </a:r>
          </a:p>
          <a:p>
            <a:pPr>
              <a:defRPr sz="1800"/>
            </a:pPr>
            <a:r>
              <a:t>• Recovery after 180 days (ART suppression).</a:t>
            </a:r>
          </a:p>
          <a:p>
            <a:pPr>
              <a:defRPr sz="1800"/>
            </a:pPr>
            <a:r>
              <a:t>• Simulation period: 730 days.</a:t>
            </a:r>
          </a:p>
          <a:p>
            <a:pPr>
              <a:defRPr sz="1800"/>
            </a:pPr>
          </a:p>
          <a:p>
            <a:pPr>
              <a:defRPr sz="1800"/>
            </a:pPr>
            <a:r>
              <a:t>[Insert HIV Transmission Timeline]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Influenza Transmission Model</a:t>
            </a:r>
          </a:p>
        </p:txBody>
      </p:sp>
      <p:sp>
        <p:nvSpPr>
          <p:cNvPr id="3" name="Content Placeholder 2"/>
          <p:cNvSpPr>
            <a:spLocks noGrp="1"/>
          </p:cNvSpPr>
          <p:nvPr>
            <p:ph idx="1"/>
          </p:nvPr>
        </p:nvSpPr>
        <p:spPr/>
        <p:txBody>
          <a:bodyPr/>
          <a:lstStyle/>
          <a:p>
            <a:pPr>
              <a:defRPr sz="1800"/>
            </a:pPr>
            <a:r>
              <a:t>• Edge-based (close contact, 15% chance).</a:t>
            </a:r>
          </a:p>
          <a:p>
            <a:pPr>
              <a:defRPr sz="1800"/>
            </a:pPr>
            <a:r>
              <a:t>• Community mixing (3 random contacts @ 5%).</a:t>
            </a:r>
          </a:p>
          <a:p>
            <a:pPr>
              <a:defRPr sz="1800"/>
            </a:pPr>
            <a:r>
              <a:t>• SEIR stages: S → E (4d) → I (7d) → R (180d immunity).</a:t>
            </a:r>
          </a:p>
          <a:p>
            <a:pPr>
              <a:defRPr sz="1800"/>
            </a:pPr>
            <a:r>
              <a:t>• HIV-positive nodes = ×2 flu transmission risk.</a:t>
            </a:r>
          </a:p>
          <a:p>
            <a:pPr>
              <a:defRPr sz="1800"/>
            </a:pPr>
          </a:p>
          <a:p>
            <a:pPr>
              <a:defRPr sz="1800"/>
            </a:pPr>
            <a:r>
              <a:t>[Insert SEIR Diagram Placeholder]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Workflow</a:t>
            </a:r>
          </a:p>
        </p:txBody>
      </p:sp>
      <p:sp>
        <p:nvSpPr>
          <p:cNvPr id="3" name="Content Placeholder 2"/>
          <p:cNvSpPr>
            <a:spLocks noGrp="1"/>
          </p:cNvSpPr>
          <p:nvPr>
            <p:ph idx="1"/>
          </p:nvPr>
        </p:nvSpPr>
        <p:spPr/>
        <p:txBody>
          <a:bodyPr/>
          <a:lstStyle/>
          <a:p>
            <a:pPr>
              <a:defRPr sz="1800"/>
            </a:pPr>
            <a:r>
              <a:t>Each day:</a:t>
            </a:r>
          </a:p>
          <a:p>
            <a:pPr>
              <a:defRPr sz="1800"/>
            </a:pPr>
            <a:r>
              <a:t>1. Progress flu infections</a:t>
            </a:r>
          </a:p>
          <a:p>
            <a:pPr>
              <a:defRPr sz="1800"/>
            </a:pPr>
            <a:r>
              <a:t>2. Form new relationships</a:t>
            </a:r>
          </a:p>
          <a:p>
            <a:pPr>
              <a:defRPr sz="1800"/>
            </a:pPr>
            <a:r>
              <a:t>3. Transmit HIV &amp; flu</a:t>
            </a:r>
          </a:p>
          <a:p>
            <a:pPr>
              <a:defRPr sz="1800"/>
            </a:pPr>
            <a:r>
              <a:t>4. Breakups</a:t>
            </a:r>
          </a:p>
          <a:p>
            <a:pPr>
              <a:defRPr sz="1800"/>
            </a:pPr>
            <a:r>
              <a:t>5. Apply recoveries</a:t>
            </a:r>
          </a:p>
          <a:p>
            <a:pPr>
              <a:defRPr sz="1800"/>
            </a:pPr>
            <a:r>
              <a:t>6. Log data</a:t>
            </a:r>
          </a:p>
          <a:p>
            <a:pPr>
              <a:defRPr sz="1800"/>
            </a:pPr>
          </a:p>
          <a:p>
            <a:pPr>
              <a:defRPr sz="1800"/>
            </a:pPr>
            <a:r>
              <a:t>[Insert Simulation Loop Graphic]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Overview</a:t>
            </a:r>
          </a:p>
        </p:txBody>
      </p:sp>
      <p:sp>
        <p:nvSpPr>
          <p:cNvPr id="3" name="Content Placeholder 2"/>
          <p:cNvSpPr>
            <a:spLocks noGrp="1"/>
          </p:cNvSpPr>
          <p:nvPr>
            <p:ph idx="1"/>
          </p:nvPr>
        </p:nvSpPr>
        <p:spPr/>
        <p:txBody>
          <a:bodyPr/>
          <a:lstStyle/>
          <a:p>
            <a:pPr>
              <a:defRPr sz="1800"/>
            </a:pPr>
            <a:r>
              <a:t>• Scenarios simulated:</a:t>
            </a:r>
          </a:p>
          <a:p>
            <a:pPr>
              <a:defRPr sz="1800"/>
            </a:pPr>
            <a:r>
              <a:t>  1. HIV-only</a:t>
            </a:r>
          </a:p>
          <a:p>
            <a:pPr>
              <a:defRPr sz="1800"/>
            </a:pPr>
            <a:r>
              <a:t>  2. Influenza-only</a:t>
            </a:r>
          </a:p>
          <a:p>
            <a:pPr>
              <a:defRPr sz="1800"/>
            </a:pPr>
            <a:r>
              <a:t>  3. Co-infection</a:t>
            </a:r>
          </a:p>
          <a:p>
            <a:pPr>
              <a:defRPr sz="1800"/>
            </a:pPr>
            <a:r>
              <a:t>• 21 random seeds per run for mean + 95% CI.</a:t>
            </a:r>
          </a:p>
          <a:p>
            <a:pPr>
              <a:defRPr sz="1800"/>
            </a:pPr>
          </a:p>
          <a:p>
            <a:pPr>
              <a:defRPr sz="1800"/>
            </a:pPr>
            <a:r>
              <a:t>[Insert Overview Graphic]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HIV-Only Outcomes</a:t>
            </a:r>
          </a:p>
        </p:txBody>
      </p:sp>
      <p:sp>
        <p:nvSpPr>
          <p:cNvPr id="3" name="Content Placeholder 2"/>
          <p:cNvSpPr>
            <a:spLocks noGrp="1"/>
          </p:cNvSpPr>
          <p:nvPr>
            <p:ph idx="1"/>
          </p:nvPr>
        </p:nvSpPr>
        <p:spPr/>
        <p:txBody>
          <a:bodyPr/>
          <a:lstStyle/>
          <a:p>
            <a:pPr>
              <a:defRPr sz="1800"/>
            </a:pPr>
            <a:r>
              <a:t>• Gradual growth to ~430 infections (~19% of population).</a:t>
            </a:r>
          </a:p>
          <a:p>
            <a:pPr>
              <a:defRPr sz="1800"/>
            </a:pPr>
            <a:r>
              <a:t>• Steady low incidence ≈ 1 new case/day.</a:t>
            </a:r>
          </a:p>
          <a:p>
            <a:pPr>
              <a:defRPr sz="1800"/>
            </a:pPr>
            <a:r>
              <a:t>• 150 active infections at 730 days.</a:t>
            </a:r>
          </a:p>
          <a:p>
            <a:pPr>
              <a:defRPr sz="1800"/>
            </a:pPr>
          </a:p>
          <a:p>
            <a:pPr>
              <a:defRPr sz="1800"/>
            </a:pPr>
            <a:r>
              <a:t>[Insert HIV Incidence Graph]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Influenza-Only Outcomes</a:t>
            </a:r>
          </a:p>
        </p:txBody>
      </p:sp>
      <p:sp>
        <p:nvSpPr>
          <p:cNvPr id="3" name="Content Placeholder 2"/>
          <p:cNvSpPr>
            <a:spLocks noGrp="1"/>
          </p:cNvSpPr>
          <p:nvPr>
            <p:ph idx="1"/>
          </p:nvPr>
        </p:nvSpPr>
        <p:spPr/>
        <p:txBody>
          <a:bodyPr/>
          <a:lstStyle/>
          <a:p>
            <a:pPr>
              <a:defRPr sz="1800"/>
            </a:pPr>
            <a:r>
              <a:t>• Explosive outbreak infecting &gt;95% within 20 days.</a:t>
            </a:r>
          </a:p>
          <a:p>
            <a:pPr>
              <a:defRPr sz="1800"/>
            </a:pPr>
            <a:r>
              <a:t>• Peak ≈ 1,800 active infections (75%).</a:t>
            </a:r>
          </a:p>
          <a:p>
            <a:pPr>
              <a:defRPr sz="1800"/>
            </a:pPr>
            <a:r>
              <a:t>• Outbreak resolved by day 30.</a:t>
            </a:r>
          </a:p>
          <a:p>
            <a:pPr>
              <a:defRPr sz="1800"/>
            </a:pPr>
          </a:p>
          <a:p>
            <a:pPr>
              <a:defRPr sz="1800"/>
            </a:pPr>
            <a:r>
              <a:t>[Insert Influenza Curve Placeholder]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Co-Infection Results</a:t>
            </a:r>
          </a:p>
        </p:txBody>
      </p:sp>
      <p:sp>
        <p:nvSpPr>
          <p:cNvPr id="3" name="Content Placeholder 2"/>
          <p:cNvSpPr>
            <a:spLocks noGrp="1"/>
          </p:cNvSpPr>
          <p:nvPr>
            <p:ph idx="1"/>
          </p:nvPr>
        </p:nvSpPr>
        <p:spPr/>
        <p:txBody>
          <a:bodyPr/>
          <a:lstStyle/>
          <a:p>
            <a:pPr>
              <a:defRPr sz="1800"/>
            </a:pPr>
            <a:r>
              <a:t>• HIV infections ↑ ~10–15% with influenza present.</a:t>
            </a:r>
          </a:p>
          <a:p>
            <a:pPr>
              <a:defRPr sz="1800"/>
            </a:pPr>
            <a:r>
              <a:t>• Influenza largely unaffected.</a:t>
            </a:r>
          </a:p>
          <a:p>
            <a:pPr>
              <a:defRPr sz="1800"/>
            </a:pPr>
            <a:r>
              <a:t>• Asymmetric: flu affects HIV slightly, not vice versa.</a:t>
            </a:r>
          </a:p>
          <a:p>
            <a:pPr>
              <a:defRPr sz="1800"/>
            </a:pPr>
          </a:p>
          <a:p>
            <a:pPr>
              <a:defRPr sz="1800"/>
            </a:pPr>
            <a:r>
              <a:t>[Insert Comparison Graph/Table]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 Health Implications</a:t>
            </a:r>
          </a:p>
        </p:txBody>
      </p:sp>
      <p:sp>
        <p:nvSpPr>
          <p:cNvPr id="3" name="Content Placeholder 2"/>
          <p:cNvSpPr>
            <a:spLocks noGrp="1"/>
          </p:cNvSpPr>
          <p:nvPr>
            <p:ph idx="1"/>
          </p:nvPr>
        </p:nvSpPr>
        <p:spPr/>
        <p:txBody>
          <a:bodyPr/>
          <a:lstStyle/>
          <a:p>
            <a:pPr>
              <a:defRPr sz="1800"/>
            </a:pPr>
            <a:r>
              <a:t>1. Maintain ART adherence for viral suppression.</a:t>
            </a:r>
          </a:p>
          <a:p>
            <a:pPr>
              <a:defRPr sz="1800"/>
            </a:pPr>
            <a:r>
              <a:t>2. Enhance annual influenza vaccination.</a:t>
            </a:r>
          </a:p>
          <a:p>
            <a:pPr>
              <a:defRPr sz="1800"/>
            </a:pPr>
            <a:r>
              <a:t>→ Combined strategy to reduce community burden.</a:t>
            </a:r>
          </a:p>
          <a:p>
            <a:pPr>
              <a:defRPr sz="1800"/>
            </a:pPr>
          </a:p>
          <a:p>
            <a:pPr>
              <a:defRPr sz="1800"/>
            </a:pPr>
            <a:r>
              <a:t>[Insert Vaccination Graphic]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Strengths</a:t>
            </a:r>
          </a:p>
        </p:txBody>
      </p:sp>
      <p:sp>
        <p:nvSpPr>
          <p:cNvPr id="3" name="Content Placeholder 2"/>
          <p:cNvSpPr>
            <a:spLocks noGrp="1"/>
          </p:cNvSpPr>
          <p:nvPr>
            <p:ph idx="1"/>
          </p:nvPr>
        </p:nvSpPr>
        <p:spPr/>
        <p:txBody>
          <a:bodyPr/>
          <a:lstStyle/>
          <a:p>
            <a:pPr>
              <a:defRPr sz="1800"/>
            </a:pPr>
            <a:r>
              <a:t>• Demographically accurate synthetic population.</a:t>
            </a:r>
          </a:p>
          <a:p>
            <a:pPr>
              <a:defRPr sz="1800"/>
            </a:pPr>
            <a:r>
              <a:t>• Integrates chronic and acute infections.</a:t>
            </a:r>
          </a:p>
          <a:p>
            <a:pPr>
              <a:defRPr sz="1800"/>
            </a:pPr>
            <a:r>
              <a:t>• Reflects stochastic human behaviour.</a:t>
            </a:r>
          </a:p>
          <a:p>
            <a:pPr>
              <a:defRPr sz="1800"/>
            </a:pPr>
          </a:p>
          <a:p>
            <a:pPr>
              <a:defRPr sz="1800"/>
            </a:pPr>
            <a:r>
              <a:t>[Insert Population Network Snapshot]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&amp; Future Work</a:t>
            </a:r>
          </a:p>
        </p:txBody>
      </p:sp>
      <p:sp>
        <p:nvSpPr>
          <p:cNvPr id="3" name="Content Placeholder 2"/>
          <p:cNvSpPr>
            <a:spLocks noGrp="1"/>
          </p:cNvSpPr>
          <p:nvPr>
            <p:ph idx="1"/>
          </p:nvPr>
        </p:nvSpPr>
        <p:spPr/>
        <p:txBody>
          <a:bodyPr/>
          <a:lstStyle/>
          <a:p>
            <a:pPr>
              <a:defRPr sz="1800"/>
            </a:pPr>
            <a:r>
              <a:t>• No seasonality, mobility or healthcare interventions.</a:t>
            </a:r>
          </a:p>
          <a:p>
            <a:pPr>
              <a:defRPr sz="1800"/>
            </a:pPr>
            <a:r>
              <a:t>• Static demographics (no births/deaths/migration).</a:t>
            </a:r>
          </a:p>
          <a:p>
            <a:pPr>
              <a:defRPr sz="1800"/>
            </a:pPr>
            <a:r>
              <a:t>• Simplified HIV progression.</a:t>
            </a:r>
          </a:p>
          <a:p>
            <a:pPr>
              <a:defRPr sz="1800"/>
            </a:pPr>
            <a:r>
              <a:t>Future: add interventions, behaviour adaptation, mobility.</a:t>
            </a:r>
          </a:p>
          <a:p>
            <a:pPr>
              <a:defRPr sz="1800"/>
            </a:pPr>
          </a:p>
          <a:p>
            <a:pPr>
              <a:defRPr sz="1800"/>
            </a:pPr>
            <a:r>
              <a:t>[Insert Improvement Flowchart]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p:nvPr>
        </p:nvSpPr>
        <p:spPr/>
        <p:txBody>
          <a:bodyPr/>
          <a:lstStyle/>
          <a:p>
            <a:pPr>
              <a:defRPr sz="1800"/>
            </a:pPr>
            <a:r>
              <a:t>• HIV slow, influenza fast → limited interaction.</a:t>
            </a:r>
          </a:p>
          <a:p>
            <a:pPr>
              <a:defRPr sz="1800"/>
            </a:pPr>
            <a:r>
              <a:t>• Co-infection increases HIV ~10–15%.</a:t>
            </a:r>
          </a:p>
          <a:p>
            <a:pPr>
              <a:defRPr sz="1800"/>
            </a:pPr>
            <a:r>
              <a:t>• Reinforces ART and flu vaccination importance.</a:t>
            </a:r>
          </a:p>
          <a:p>
            <a:pPr>
              <a:defRPr sz="1800"/>
            </a:pPr>
            <a:r>
              <a:t>• Demonstrates value of computational epidemiology.</a:t>
            </a:r>
          </a:p>
          <a:p>
            <a:pPr>
              <a:defRPr sz="1800"/>
            </a:pPr>
          </a:p>
          <a:p>
            <a:pPr>
              <a:defRPr sz="1800"/>
            </a:pPr>
            <a:r>
              <a:t>[Insert Summary Figure Placeholder]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Acknowledgements &amp; References</a:t>
            </a:r>
          </a:p>
        </p:txBody>
      </p:sp>
      <p:sp>
        <p:nvSpPr>
          <p:cNvPr id="3" name="Content Placeholder 2"/>
          <p:cNvSpPr>
            <a:spLocks noGrp="1"/>
          </p:cNvSpPr>
          <p:nvPr>
            <p:ph idx="1"/>
          </p:nvPr>
        </p:nvSpPr>
        <p:spPr/>
        <p:txBody>
          <a:bodyPr/>
          <a:lstStyle/>
          <a:p>
            <a:pPr>
              <a:defRPr sz="1800"/>
            </a:pPr>
            <a:r>
              <a:t>Supervisor: Dr Mahendra Piraveenan</a:t>
            </a:r>
          </a:p>
          <a:p>
            <a:pPr>
              <a:defRPr sz="1800"/>
            </a:pPr>
            <a:r>
              <a:t>Data: ABS, Kirby Institute, Department of Health</a:t>
            </a:r>
          </a:p>
          <a:p>
            <a:pPr>
              <a:defRPr sz="1800"/>
            </a:pPr>
            <a:r>
              <a:t>Key Sources:</a:t>
            </a:r>
          </a:p>
          <a:p>
            <a:pPr>
              <a:defRPr sz="1800"/>
            </a:pPr>
            <a:r>
              <a:t>Cohen et al. (2013)</a:t>
            </a:r>
          </a:p>
          <a:p>
            <a:pPr>
              <a:defRPr sz="1800"/>
            </a:pPr>
            <a:r>
              <a:t>Kunisaki &amp; Janoff (2009)</a:t>
            </a:r>
          </a:p>
          <a:p>
            <a:pPr>
              <a:defRPr sz="1800"/>
            </a:pPr>
            <a:r>
              <a:t>Beck et al. (2012)</a:t>
            </a:r>
          </a:p>
          <a:p>
            <a:pPr>
              <a:defRPr sz="1800"/>
            </a:pPr>
            <a:r>
              <a:t>Barabási &amp; Albert (1999)</a:t>
            </a:r>
          </a:p>
          <a:p>
            <a:pPr>
              <a:defRPr sz="1800"/>
            </a:pPr>
            <a:r>
              <a:t>Patel et al. (2014)</a:t>
            </a:r>
          </a:p>
          <a:p>
            <a:pPr>
              <a:defRPr sz="1800"/>
            </a:pPr>
          </a:p>
          <a:p>
            <a:pPr>
              <a:defRPr sz="1800"/>
            </a:pPr>
            <a:r>
              <a:t>[Insert University Logo]</a:t>
            </a:r>
          </a:p>
        </p:txBody>
      </p:sp>
    </p:spTree>
  </p:cSld>
  <p:clrMapOvr>
    <a:masterClrMapping/>
  </p:clrMapOvr>
</p:sld>
</file>

<file path=ppt/theme/theme1.xml><?xml version="1.0" encoding="utf-8"?>
<a:theme xmlns:a="http://schemas.openxmlformats.org/drawingml/2006/main" name="PPT-template-standard_August15">
  <a:themeElements>
    <a:clrScheme name="The University of Sydney_Color Theme">
      <a:dk1>
        <a:sysClr val="windowText" lastClr="000000"/>
      </a:dk1>
      <a:lt1>
        <a:sysClr val="window" lastClr="FFFFFF"/>
      </a:lt1>
      <a:dk2>
        <a:srgbClr val="0148A4"/>
      </a:dk2>
      <a:lt2>
        <a:srgbClr val="EEECE1"/>
      </a:lt2>
      <a:accent1>
        <a:srgbClr val="E64626"/>
      </a:accent1>
      <a:accent2>
        <a:srgbClr val="EF8025"/>
      </a:accent2>
      <a:accent3>
        <a:srgbClr val="FFB800"/>
      </a:accent3>
      <a:accent4>
        <a:srgbClr val="5C923E"/>
      </a:accent4>
      <a:accent5>
        <a:srgbClr val="5496DB"/>
      </a:accent5>
      <a:accent6>
        <a:srgbClr val="0148A4"/>
      </a:accent6>
      <a:hlink>
        <a:srgbClr val="E64626"/>
      </a:hlink>
      <a:folHlink>
        <a:srgbClr val="F05133"/>
      </a:folHlink>
    </a:clrScheme>
    <a:fontScheme name="Me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presentation</Template>
  <TotalTime>117</TotalTime>
  <Words>95</Words>
  <Application>Microsoft Office PowerPoint</Application>
  <PresentationFormat>On-screen Show (4:3)</PresentationFormat>
  <Paragraphs>23</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Lucida Grande</vt:lpstr>
      <vt:lpstr>Tw Cen MT</vt:lpstr>
      <vt:lpstr>PPT-template-standard_August15</vt:lpstr>
      <vt:lpstr>Investigating the Co-Dynamics of HIV/AIDS and Influenza in Regional Australia  </vt:lpstr>
      <vt:lpstr>Motivation and Problem</vt:lpstr>
      <vt:lpstr>Slide title… 28pt font size</vt:lpstr>
      <vt:lpstr>PowerPoint Presentation</vt:lpstr>
      <vt:lpstr>Yeah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Taylor Pan</dc:creator>
  <cp:lastModifiedBy>Taylor Pan</cp:lastModifiedBy>
  <cp:revision>5</cp:revision>
  <cp:lastPrinted>2015-06-26T01:12:18Z</cp:lastPrinted>
  <dcterms:created xsi:type="dcterms:W3CDTF">2025-11-06T02:43:27Z</dcterms:created>
  <dcterms:modified xsi:type="dcterms:W3CDTF">2025-11-07T01:35:11Z</dcterms:modified>
</cp:coreProperties>
</file>