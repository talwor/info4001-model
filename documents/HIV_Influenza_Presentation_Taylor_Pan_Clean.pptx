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 Type="http://schemas.openxmlformats.org/officeDocument/2006/relationships/printerSettings" Target="printerSettings/printerSettings1.bin"/><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 Type="http://schemas.openxmlformats.org/officeDocument/2006/relationships/presProps" Target="presProps.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introduction to the thesis presentation. I will be discussing how HIV/AIDS and Influenza interact within a regional Australian context, focusing on Bourke, NSW.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and Indigenous Australians face higher burdens of infectious diseases. HIV weakens the immune system, making individuals more vulnerable to other infections like influenza. This study focuses on how these diseases interact in small communities.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of this study is to model how HIV-induced immunosuppression impacts influenza transmission. Objectives include building a population model, simulating transmission, and deriving public health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Previous studies modelled these diseases separately. HIV is a chronic infection with slow transmission, while influenza spreads quickly. Immunocompromised people experience more severe influenza outcomes.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network-based epidemiological model captures both structured (sexual) and unstructured (respiratory) contacts in a realistic way. This helps reveal how HIV and influenza dynamics interact in small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architecture integrates population generation, relationship dynamics, and disease transmission. Each component interacts daily to update infection and recovery status.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synthetic population of 2,340 individuals representing Bourke was created using 2021 ABS census data. Attributes include age, gender, and Indigenous status. Twenty adults were seeded with HIV to start the simulation.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Relationships form between adults under 10-year age gaps, with a homophily bias of 0.7 for Indigenous status. Relationships dissolve with a 2% daily probability. This models realistic partnership turnover.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HIV spreads through sexual relationships with low per-contact probabilities. ART treatment leads to viral suppression by day 180. Simulations run for 730 days, representing two years.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Influenza spreads quickly through both close contacts and random community interactions. An SEIR model tracks infection states, with temporary immunity lasting 180 days. HIV-positive nodes are twice as likely to catch flu.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day of simulation progresses disease states, forms relationships, transmits infections, and tracks recoveries. Outputs include prevalence and incidence of both diseases over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simulation modes were tested: HIV-only, influenza-only, and both together. Each was repeated across 21 random seeds to calculate averages and 95%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HIV-only runs, prevalence slowly rose to around 6–7%. This reflects realistic endemic behaviour of HIV where new infections occur slowly but persistently.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influenza-only runs, over 95% of the population was infected within 20 days. The outbreak peaked quickly and resolved, consistent with seasonal flu waves.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co-infection runs, HIV infections rose about 10–15% higher than the HIV-only case, while influenza spread was nearly identical. HIV’s slow spread limits its effect on influenza dynamics.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health recommendations: maintain ART adherence and increase influenza vaccination. Together, these strategies reduce both diseases’ burden in regional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successfully integrates sexual and respiratory transmission with realistic demographics, demonstrating how overlapping epidemics behave in small towns.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limitations exist: the model lacks seasonality, mobility, and behavioural change. Future work should include healthcare interventions, vaccinations, and migration dynamics.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Conclusions: HIV spreads slowly, influenza rapidly, and co-infection increases HIV modestly. The study highlights the importance of ART and vaccination programs in regional health planning.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Acknowledgements to Dr Mahendra Piraveenan, ABS, Kirby Institute, and Department of Health. This research contributes to understanding multi-disease interactions in regional Australia.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Investigating the Co-Dynamics of HIV/AIDS and Influenza in Regional Australia</a:t>
            </a:r>
            <a:br/>
            <a:br/>
          </a:p>
        </p:txBody>
      </p:sp>
      <p:sp>
        <p:nvSpPr>
          <p:cNvPr id="3" name="Content Placeholder 2"/>
          <p:cNvSpPr>
            <a:spLocks noGrp="1"/>
          </p:cNvSpPr>
          <p:nvPr>
            <p:ph idx="1"/>
          </p:nvPr>
        </p:nvSpPr>
        <p:spPr/>
        <p:txBody>
          <a:bodyPr/>
          <a:lstStyle/>
          <a:p>
            <a:pPr>
              <a:defRPr sz="1800"/>
            </a:pPr>
            <a:r>
              <a:t>Presented by</a:t>
            </a:r>
          </a:p>
          <a:p>
            <a:pPr>
              <a:defRPr sz="1800"/>
            </a:pPr>
            <a:r>
              <a:t>Taylor Pan (520431085)</a:t>
            </a:r>
          </a:p>
          <a:p>
            <a:pPr>
              <a:defRPr sz="1800"/>
            </a:pPr>
            <a:r>
              <a:t>12CP CS Undergrad Thesis</a:t>
            </a:r>
          </a:p>
          <a:p>
            <a:pPr>
              <a:defRPr sz="1800"/>
            </a:pPr>
            <a:r>
              <a:t>Supervisor: Dr Mahendra Piraveenan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and Problem</a:t>
            </a:r>
          </a:p>
        </p:txBody>
      </p:sp>
      <p:sp>
        <p:nvSpPr>
          <p:cNvPr id="3" name="Content Placeholder 2"/>
          <p:cNvSpPr>
            <a:spLocks noGrp="1"/>
          </p:cNvSpPr>
          <p:nvPr>
            <p:ph idx="1"/>
          </p:nvPr>
        </p:nvSpPr>
        <p:spPr/>
        <p:txBody>
          <a:bodyPr/>
          <a:lstStyle/>
          <a:p>
            <a:pPr>
              <a:defRPr sz="1800"/>
            </a:pPr>
            <a:r>
              <a:t>Sub-heading bold… 24pt</a:t>
            </a:r>
          </a:p>
          <a:p>
            <a:pPr>
              <a:defRPr sz="1800"/>
            </a:pPr>
            <a:r>
              <a:t>Body copy… 24pt</a:t>
            </a:r>
          </a:p>
          <a:p>
            <a:pPr>
              <a:defRPr sz="1800"/>
            </a:pPr>
            <a:r>
              <a:t>Bullet point… 24pt</a:t>
            </a:r>
          </a:p>
          <a:p>
            <a:pPr>
              <a:defRPr sz="1800"/>
            </a:pPr>
            <a:r>
              <a:t>Bullet point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title… 28pt font size</a:t>
            </a:r>
          </a:p>
        </p:txBody>
      </p:sp>
      <p:sp>
        <p:nvSpPr>
          <p:cNvPr id="3" name="Content Placeholder 2"/>
          <p:cNvSpPr>
            <a:spLocks noGrp="1"/>
          </p:cNvSpPr>
          <p:nvPr>
            <p:ph idx="1"/>
          </p:nvPr>
        </p:nvSpPr>
        <p:spPr/>
        <p:txBody>
          <a:bodyPr/>
          <a:lstStyle/>
          <a:p>
            <a:pPr>
              <a:defRPr sz="1800"/>
            </a:pPr>
            <a:r>
              <a:t>Please use this graph to ensure the colour theme is consistent.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Pr>
              <a:defRPr sz="1800"/>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Yeah </a:t>
            </a:r>
          </a:p>
        </p:txBody>
      </p:sp>
      <p:sp>
        <p:nvSpPr>
          <p:cNvPr id="3" name="Content Placeholder 2"/>
          <p:cNvSpPr>
            <a:spLocks noGrp="1"/>
          </p:cNvSpPr>
          <p:nvPr>
            <p:ph idx="1"/>
          </p:nvPr>
        </p:nvSpPr>
        <p:spPr/>
        <p:txBody>
          <a:bodyPr/>
          <a:lstStyle/>
          <a:p>
            <a:pPr>
              <a:defRPr sz="180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Investigating the Co-Dynamics of HIV/AIDS and Influenza in Regional Australia (Bourke, NSW)</a:t>
            </a:r>
          </a:p>
        </p:txBody>
      </p:sp>
      <p:sp>
        <p:nvSpPr>
          <p:cNvPr id="3" name="Content Placeholder 2"/>
          <p:cNvSpPr>
            <a:spLocks noGrp="1"/>
          </p:cNvSpPr>
          <p:nvPr>
            <p:ph idx="1"/>
          </p:nvPr>
        </p:nvSpPr>
        <p:spPr/>
        <p:txBody>
          <a:bodyPr/>
          <a:lstStyle/>
          <a:p>
            <a:pPr>
              <a:defRPr sz="1800"/>
            </a:pPr>
            <a:r>
              <a:t>Author: Taylor Pan</a:t>
            </a:r>
          </a:p>
          <a:p>
            <a:pPr>
              <a:defRPr sz="1800"/>
            </a:pPr>
            <a:r>
              <a:t>Supervisor: Dr Mahendra Piraveenan</a:t>
            </a:r>
          </a:p>
          <a:p>
            <a:pPr>
              <a:defRPr sz="1800"/>
            </a:pPr>
            <a:r>
              <a:t>Bachelor of Advanced Computing</a:t>
            </a:r>
          </a:p>
          <a:p>
            <a:pPr>
              <a:defRPr sz="1800"/>
            </a:pPr>
            <a:r>
              <a:t>School of Computer Science, University of Sydney</a:t>
            </a:r>
          </a:p>
          <a:p>
            <a:pPr>
              <a:defRPr sz="1800"/>
            </a:pPr>
            <a:r>
              <a:t>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&amp; Problem</a:t>
            </a:r>
          </a:p>
        </p:txBody>
      </p:sp>
      <p:sp>
        <p:nvSpPr>
          <p:cNvPr id="3" name="Content Placeholder 2"/>
          <p:cNvSpPr>
            <a:spLocks noGrp="1"/>
          </p:cNvSpPr>
          <p:nvPr>
            <p:ph idx="1"/>
          </p:nvPr>
        </p:nvSpPr>
        <p:spPr/>
        <p:txBody>
          <a:bodyPr/>
          <a:lstStyle/>
          <a:p>
            <a:pPr>
              <a:defRPr sz="1800"/>
            </a:pPr>
            <a:r>
              <a:t>• Regional and Indigenous populations face higher infectious disease burdens.</a:t>
            </a:r>
          </a:p>
          <a:p>
            <a:pPr>
              <a:defRPr sz="1800"/>
            </a:pPr>
            <a:r>
              <a:t>• HIV compromises immunity → may amplify flu transmission.</a:t>
            </a:r>
          </a:p>
          <a:p>
            <a:pPr>
              <a:defRPr sz="1800"/>
            </a:pPr>
            <a:r>
              <a:t>• Limited research on HIV–Influenza co-dynamics in regional Australia.</a:t>
            </a:r>
          </a:p>
          <a:p>
            <a:pPr>
              <a:defRPr sz="1800"/>
            </a:pPr>
            <a:r>
              <a:t>• Bourke: 2,340 residents, 30.3% Indigenous (ABS, 2021).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Research Aim &amp; Objectives</a:t>
            </a:r>
          </a:p>
        </p:txBody>
      </p:sp>
      <p:sp>
        <p:nvSpPr>
          <p:cNvPr id="3" name="Content Placeholder 2"/>
          <p:cNvSpPr>
            <a:spLocks noGrp="1"/>
          </p:cNvSpPr>
          <p:nvPr>
            <p:ph idx="1"/>
          </p:nvPr>
        </p:nvSpPr>
        <p:spPr/>
        <p:txBody>
          <a:bodyPr/>
          <a:lstStyle/>
          <a:p>
            <a:pPr>
              <a:defRPr sz="1800"/>
            </a:pPr>
            <a:r>
              <a:t>Aim: Model HIV/Influenza co-dynamics in Bourke, NSW.</a:t>
            </a:r>
          </a:p>
          <a:p>
            <a:pPr>
              <a:defRPr sz="1800"/>
            </a:pPr>
          </a:p>
          <a:p>
            <a:pPr>
              <a:defRPr sz="1800"/>
            </a:pPr>
            <a:r>
              <a:t>Objectives:</a:t>
            </a:r>
          </a:p>
          <a:p>
            <a:pPr>
              <a:defRPr sz="1800"/>
            </a:pPr>
            <a:r>
              <a:t>• Build synthetic population using ABS 2021 data.</a:t>
            </a:r>
          </a:p>
          <a:p>
            <a:pPr>
              <a:defRPr sz="1800"/>
            </a:pPr>
            <a:r>
              <a:t>• Simulate HIV and influenza spread using Python + NetworkX.</a:t>
            </a:r>
          </a:p>
          <a:p>
            <a:pPr>
              <a:defRPr sz="1800"/>
            </a:pPr>
            <a:r>
              <a:t>• Assess co-infection interactions.</a:t>
            </a:r>
          </a:p>
          <a:p>
            <a:pPr>
              <a:defRPr sz="1800"/>
            </a:pPr>
            <a:r>
              <a:t>• Derive public health implications.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Background</a:t>
            </a:r>
          </a:p>
        </p:txBody>
      </p:sp>
      <p:sp>
        <p:nvSpPr>
          <p:cNvPr id="3" name="Content Placeholder 2"/>
          <p:cNvSpPr>
            <a:spLocks noGrp="1"/>
          </p:cNvSpPr>
          <p:nvPr>
            <p:ph idx="1"/>
          </p:nvPr>
        </p:nvSpPr>
        <p:spPr/>
        <p:txBody>
          <a:bodyPr/>
          <a:lstStyle/>
          <a:p>
            <a:pPr>
              <a:defRPr sz="1800"/>
            </a:pPr>
            <a:r>
              <a:t>• HIV: slow sexual transmission, chronic infection.</a:t>
            </a:r>
          </a:p>
          <a:p>
            <a:pPr>
              <a:defRPr sz="1800"/>
            </a:pPr>
            <a:r>
              <a:t>• Influenza: fast airborne spread, short duration.</a:t>
            </a:r>
          </a:p>
          <a:p>
            <a:pPr>
              <a:defRPr sz="1800"/>
            </a:pPr>
            <a:r>
              <a:t>• Immunocompromised hosts = longer flu duration and higher severity.</a:t>
            </a:r>
          </a:p>
          <a:p>
            <a:pPr>
              <a:defRPr sz="1800"/>
            </a:pPr>
            <a:r>
              <a:t>• Few existing models examine HIV–Influenza interactions in small communities.</a:t>
            </a:r>
          </a:p>
          <a:p>
            <a:pPr>
              <a:defRPr sz="1800"/>
            </a:pPr>
          </a:p>
          <a:p>
            <a:pPr>
              <a:defRPr sz="1800"/>
            </a:pPr>
            <a:r>
              <a:t>[Insert Venn diagram placeholder]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Epidemiological Modelling Framework</a:t>
            </a:r>
          </a:p>
        </p:txBody>
      </p:sp>
      <p:sp>
        <p:nvSpPr>
          <p:cNvPr id="3" name="Content Placeholder 2"/>
          <p:cNvSpPr>
            <a:spLocks noGrp="1"/>
          </p:cNvSpPr>
          <p:nvPr>
            <p:ph idx="1"/>
          </p:nvPr>
        </p:nvSpPr>
        <p:spPr/>
        <p:txBody>
          <a:bodyPr/>
          <a:lstStyle/>
          <a:p>
            <a:pPr>
              <a:defRPr sz="1800"/>
            </a:pPr>
            <a:r>
              <a:t>• Network-based model (Barabási–Albert structure).</a:t>
            </a:r>
          </a:p>
          <a:p>
            <a:pPr>
              <a:defRPr sz="1800"/>
            </a:pPr>
            <a:r>
              <a:t>• Nodes = individuals (age, gender, Indigenous status, infection states).</a:t>
            </a:r>
          </a:p>
          <a:p>
            <a:pPr>
              <a:defRPr sz="1800"/>
            </a:pPr>
            <a:r>
              <a:t>• Edges = sexual partnerships.</a:t>
            </a:r>
          </a:p>
          <a:p>
            <a:pPr>
              <a:defRPr sz="1800"/>
            </a:pPr>
            <a:r>
              <a:t>• Influenza spreads through community mixing.</a:t>
            </a:r>
          </a:p>
          <a:p>
            <a:pPr>
              <a:defRPr sz="1800"/>
            </a:pPr>
          </a:p>
          <a:p>
            <a:pPr>
              <a:defRPr sz="1800"/>
            </a:pPr>
            <a:r>
              <a:t>[Insert Model Structure Diagram]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Architecture</a:t>
            </a:r>
          </a:p>
        </p:txBody>
      </p:sp>
      <p:sp>
        <p:nvSpPr>
          <p:cNvPr id="3" name="Content Placeholder 2"/>
          <p:cNvSpPr>
            <a:spLocks noGrp="1"/>
          </p:cNvSpPr>
          <p:nvPr>
            <p:ph idx="1"/>
          </p:nvPr>
        </p:nvSpPr>
        <p:spPr/>
        <p:txBody>
          <a:bodyPr/>
          <a:lstStyle/>
          <a:p>
            <a:pPr>
              <a:defRPr sz="1800"/>
            </a:pPr>
            <a:r>
              <a:t>Modules:</a:t>
            </a:r>
          </a:p>
          <a:p>
            <a:pPr>
              <a:defRPr sz="1800"/>
            </a:pPr>
            <a:r>
              <a:t>• population_functions.py – generate population</a:t>
            </a:r>
          </a:p>
          <a:p>
            <a:pPr>
              <a:defRPr sz="1800"/>
            </a:pPr>
            <a:r>
              <a:t>• relationship_functions.py – form/dissolve relationships</a:t>
            </a:r>
          </a:p>
          <a:p>
            <a:pPr>
              <a:defRPr sz="1800"/>
            </a:pPr>
            <a:r>
              <a:t>• disease.py – transmission &amp; recovery rules</a:t>
            </a:r>
          </a:p>
          <a:p>
            <a:pPr>
              <a:defRPr sz="1800"/>
            </a:pPr>
            <a:r>
              <a:t>• main.py – simulation loop and output</a:t>
            </a:r>
          </a:p>
          <a:p>
            <a:pPr>
              <a:defRPr sz="1800"/>
            </a:pPr>
          </a:p>
          <a:p>
            <a:pPr>
              <a:defRPr sz="1800"/>
            </a:pPr>
            <a:r>
              <a:t>[Insert Flowchart Placeholder]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Population Generation</a:t>
            </a:r>
          </a:p>
        </p:txBody>
      </p:sp>
      <p:sp>
        <p:nvSpPr>
          <p:cNvPr id="3" name="Content Placeholder 2"/>
          <p:cNvSpPr>
            <a:spLocks noGrp="1"/>
          </p:cNvSpPr>
          <p:nvPr>
            <p:ph idx="1"/>
          </p:nvPr>
        </p:nvSpPr>
        <p:spPr/>
        <p:txBody>
          <a:bodyPr/>
          <a:lstStyle/>
          <a:p>
            <a:pPr>
              <a:defRPr sz="1800"/>
            </a:pPr>
            <a:r>
              <a:t>• 2,340 individuals generated.</a:t>
            </a:r>
          </a:p>
          <a:p>
            <a:pPr>
              <a:defRPr sz="1800"/>
            </a:pPr>
            <a:r>
              <a:t>• Demographics reflect ABS data.</a:t>
            </a:r>
          </a:p>
          <a:p>
            <a:pPr>
              <a:defRPr sz="1800"/>
            </a:pPr>
            <a:r>
              <a:t>• 30.3% Aboriginal and Torres Strait Islander.</a:t>
            </a:r>
          </a:p>
          <a:p>
            <a:pPr>
              <a:defRPr sz="1800"/>
            </a:pPr>
            <a:r>
              <a:t>• 20 initial HIV infections seeded.</a:t>
            </a:r>
          </a:p>
          <a:p>
            <a:pPr>
              <a:defRPr sz="1800"/>
            </a:pPr>
          </a:p>
          <a:p>
            <a:pPr>
              <a:defRPr sz="1800"/>
            </a:pPr>
            <a:r>
              <a:t>[Insert Age Distribution Graph]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Relationship Formation</a:t>
            </a:r>
          </a:p>
        </p:txBody>
      </p:sp>
      <p:sp>
        <p:nvSpPr>
          <p:cNvPr id="3" name="Content Placeholder 2"/>
          <p:cNvSpPr>
            <a:spLocks noGrp="1"/>
          </p:cNvSpPr>
          <p:nvPr>
            <p:ph idx="1"/>
          </p:nvPr>
        </p:nvSpPr>
        <p:spPr/>
        <p:txBody>
          <a:bodyPr/>
          <a:lstStyle/>
          <a:p>
            <a:pPr>
              <a:defRPr sz="1800"/>
            </a:pPr>
            <a:r>
              <a:t>• 14% daily chance to form new relationship (≈ weekly intercourse).</a:t>
            </a:r>
          </a:p>
          <a:p>
            <a:pPr>
              <a:defRPr sz="1800"/>
            </a:pPr>
            <a:r>
              <a:t>• Age gap ≤ 10 years.</a:t>
            </a:r>
          </a:p>
          <a:p>
            <a:pPr>
              <a:defRPr sz="1800"/>
            </a:pPr>
            <a:r>
              <a:t>• Monogamous.</a:t>
            </a:r>
          </a:p>
          <a:p>
            <a:pPr>
              <a:defRPr sz="1800"/>
            </a:pPr>
            <a:r>
              <a:t>• Homophily = 0.7 (same Indigenous status more likely).</a:t>
            </a:r>
          </a:p>
          <a:p>
            <a:pPr>
              <a:defRPr sz="1800"/>
            </a:pPr>
            <a:r>
              <a:t>• 2% daily breakup probability.</a:t>
            </a:r>
          </a:p>
          <a:p>
            <a:pPr>
              <a:defRPr sz="1800"/>
            </a:pPr>
          </a:p>
          <a:p>
            <a:pPr>
              <a:defRPr sz="1800"/>
            </a:pPr>
            <a:r>
              <a:t>[Insert Relationship Network Placeholder]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HIV Transmission Parameters</a:t>
            </a:r>
          </a:p>
        </p:txBody>
      </p:sp>
      <p:sp>
        <p:nvSpPr>
          <p:cNvPr id="3" name="Content Placeholder 2"/>
          <p:cNvSpPr>
            <a:spLocks noGrp="1"/>
          </p:cNvSpPr>
          <p:nvPr>
            <p:ph idx="1"/>
          </p:nvPr>
        </p:nvSpPr>
        <p:spPr/>
        <p:txBody>
          <a:bodyPr/>
          <a:lstStyle/>
          <a:p>
            <a:pPr>
              <a:defRPr sz="1800"/>
            </a:pPr>
            <a:r>
              <a:t>• Male → Female: 1 in 1,234.</a:t>
            </a:r>
          </a:p>
          <a:p>
            <a:pPr>
              <a:defRPr sz="1800"/>
            </a:pPr>
            <a:r>
              <a:t>• Female → Male: 1 in 2,380.</a:t>
            </a:r>
          </a:p>
          <a:p>
            <a:pPr>
              <a:defRPr sz="1800"/>
            </a:pPr>
            <a:r>
              <a:t>• Recovery after 180 days (ART suppression).</a:t>
            </a:r>
          </a:p>
          <a:p>
            <a:pPr>
              <a:defRPr sz="1800"/>
            </a:pPr>
            <a:r>
              <a:t>• Simulation period: 730 days.</a:t>
            </a:r>
          </a:p>
          <a:p>
            <a:pPr>
              <a:defRPr sz="1800"/>
            </a:pPr>
          </a:p>
          <a:p>
            <a:pPr>
              <a:defRPr sz="1800"/>
            </a:pPr>
            <a:r>
              <a:t>[Insert HIV Transmission Timeline]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Influenza Transmission Model</a:t>
            </a:r>
          </a:p>
        </p:txBody>
      </p:sp>
      <p:sp>
        <p:nvSpPr>
          <p:cNvPr id="3" name="Content Placeholder 2"/>
          <p:cNvSpPr>
            <a:spLocks noGrp="1"/>
          </p:cNvSpPr>
          <p:nvPr>
            <p:ph idx="1"/>
          </p:nvPr>
        </p:nvSpPr>
        <p:spPr/>
        <p:txBody>
          <a:bodyPr/>
          <a:lstStyle/>
          <a:p>
            <a:pPr>
              <a:defRPr sz="1800"/>
            </a:pPr>
            <a:r>
              <a:t>• Edge-based (close contact, 15% chance).</a:t>
            </a:r>
          </a:p>
          <a:p>
            <a:pPr>
              <a:defRPr sz="1800"/>
            </a:pPr>
            <a:r>
              <a:t>• Community mixing (3 random contacts @ 5%).</a:t>
            </a:r>
          </a:p>
          <a:p>
            <a:pPr>
              <a:defRPr sz="1800"/>
            </a:pPr>
            <a:r>
              <a:t>• SEIR stages: S → E (4d) → I (7d) → R (180d immunity).</a:t>
            </a:r>
          </a:p>
          <a:p>
            <a:pPr>
              <a:defRPr sz="1800"/>
            </a:pPr>
            <a:r>
              <a:t>• HIV-positive nodes = ×2 flu transmission risk.</a:t>
            </a:r>
          </a:p>
          <a:p>
            <a:pPr>
              <a:defRPr sz="1800"/>
            </a:pPr>
          </a:p>
          <a:p>
            <a:pPr>
              <a:defRPr sz="1800"/>
            </a:pPr>
            <a:r>
              <a:t>[Insert SEIR Diagram Placeholder]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Workflow</a:t>
            </a:r>
          </a:p>
        </p:txBody>
      </p:sp>
      <p:sp>
        <p:nvSpPr>
          <p:cNvPr id="3" name="Content Placeholder 2"/>
          <p:cNvSpPr>
            <a:spLocks noGrp="1"/>
          </p:cNvSpPr>
          <p:nvPr>
            <p:ph idx="1"/>
          </p:nvPr>
        </p:nvSpPr>
        <p:spPr/>
        <p:txBody>
          <a:bodyPr/>
          <a:lstStyle/>
          <a:p>
            <a:pPr>
              <a:defRPr sz="1800"/>
            </a:pPr>
            <a:r>
              <a:t>Each day:</a:t>
            </a:r>
          </a:p>
          <a:p>
            <a:pPr>
              <a:defRPr sz="1800"/>
            </a:pPr>
            <a:r>
              <a:t>1. Progress flu infections</a:t>
            </a:r>
          </a:p>
          <a:p>
            <a:pPr>
              <a:defRPr sz="1800"/>
            </a:pPr>
            <a:r>
              <a:t>2. Form new relationships</a:t>
            </a:r>
          </a:p>
          <a:p>
            <a:pPr>
              <a:defRPr sz="1800"/>
            </a:pPr>
            <a:r>
              <a:t>3. Transmit HIV &amp; flu</a:t>
            </a:r>
          </a:p>
          <a:p>
            <a:pPr>
              <a:defRPr sz="1800"/>
            </a:pPr>
            <a:r>
              <a:t>4. Breakups</a:t>
            </a:r>
          </a:p>
          <a:p>
            <a:pPr>
              <a:defRPr sz="1800"/>
            </a:pPr>
            <a:r>
              <a:t>5. Apply recoveries</a:t>
            </a:r>
          </a:p>
          <a:p>
            <a:pPr>
              <a:defRPr sz="1800"/>
            </a:pPr>
            <a:r>
              <a:t>6. Log data</a:t>
            </a:r>
          </a:p>
          <a:p>
            <a:pPr>
              <a:defRPr sz="1800"/>
            </a:pPr>
          </a:p>
          <a:p>
            <a:pPr>
              <a:defRPr sz="1800"/>
            </a:pPr>
            <a:r>
              <a:t>[Insert Simulation Loop Graphic]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Overview</a:t>
            </a:r>
          </a:p>
        </p:txBody>
      </p:sp>
      <p:sp>
        <p:nvSpPr>
          <p:cNvPr id="3" name="Content Placeholder 2"/>
          <p:cNvSpPr>
            <a:spLocks noGrp="1"/>
          </p:cNvSpPr>
          <p:nvPr>
            <p:ph idx="1"/>
          </p:nvPr>
        </p:nvSpPr>
        <p:spPr/>
        <p:txBody>
          <a:bodyPr/>
          <a:lstStyle/>
          <a:p>
            <a:pPr>
              <a:defRPr sz="1800"/>
            </a:pPr>
            <a:r>
              <a:t>• Scenarios simulated:</a:t>
            </a:r>
          </a:p>
          <a:p>
            <a:pPr>
              <a:defRPr sz="1800"/>
            </a:pPr>
            <a:r>
              <a:t>  1. HIV-only</a:t>
            </a:r>
          </a:p>
          <a:p>
            <a:pPr>
              <a:defRPr sz="1800"/>
            </a:pPr>
            <a:r>
              <a:t>  2. Influenza-only</a:t>
            </a:r>
          </a:p>
          <a:p>
            <a:pPr>
              <a:defRPr sz="1800"/>
            </a:pPr>
            <a:r>
              <a:t>  3. Co-infection</a:t>
            </a:r>
          </a:p>
          <a:p>
            <a:pPr>
              <a:defRPr sz="1800"/>
            </a:pPr>
            <a:r>
              <a:t>• 21 random seeds per run for mean + 95% CI.</a:t>
            </a:r>
          </a:p>
          <a:p>
            <a:pPr>
              <a:defRPr sz="1800"/>
            </a:pPr>
          </a:p>
          <a:p>
            <a:pPr>
              <a:defRPr sz="1800"/>
            </a:pPr>
            <a:r>
              <a:t>[Insert Overview Graphic]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HIV-Only Outcomes</a:t>
            </a:r>
          </a:p>
        </p:txBody>
      </p:sp>
      <p:sp>
        <p:nvSpPr>
          <p:cNvPr id="3" name="Content Placeholder 2"/>
          <p:cNvSpPr>
            <a:spLocks noGrp="1"/>
          </p:cNvSpPr>
          <p:nvPr>
            <p:ph idx="1"/>
          </p:nvPr>
        </p:nvSpPr>
        <p:spPr/>
        <p:txBody>
          <a:bodyPr/>
          <a:lstStyle/>
          <a:p>
            <a:pPr>
              <a:defRPr sz="1800"/>
            </a:pPr>
            <a:r>
              <a:t>• Gradual growth to ~430 infections (~19% of population).</a:t>
            </a:r>
          </a:p>
          <a:p>
            <a:pPr>
              <a:defRPr sz="1800"/>
            </a:pPr>
            <a:r>
              <a:t>• Steady low incidence ≈ 1 new case/day.</a:t>
            </a:r>
          </a:p>
          <a:p>
            <a:pPr>
              <a:defRPr sz="1800"/>
            </a:pPr>
            <a:r>
              <a:t>• 150 active infections at 730 days.</a:t>
            </a:r>
          </a:p>
          <a:p>
            <a:pPr>
              <a:defRPr sz="1800"/>
            </a:pPr>
          </a:p>
          <a:p>
            <a:pPr>
              <a:defRPr sz="1800"/>
            </a:pPr>
            <a:r>
              <a:t>[Insert HIV Incidence Graph]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Influenza-Only Outcomes</a:t>
            </a:r>
          </a:p>
        </p:txBody>
      </p:sp>
      <p:sp>
        <p:nvSpPr>
          <p:cNvPr id="3" name="Content Placeholder 2"/>
          <p:cNvSpPr>
            <a:spLocks noGrp="1"/>
          </p:cNvSpPr>
          <p:nvPr>
            <p:ph idx="1"/>
          </p:nvPr>
        </p:nvSpPr>
        <p:spPr/>
        <p:txBody>
          <a:bodyPr/>
          <a:lstStyle/>
          <a:p>
            <a:pPr>
              <a:defRPr sz="1800"/>
            </a:pPr>
            <a:r>
              <a:t>• Explosive outbreak infecting &gt;95% within 20 days.</a:t>
            </a:r>
          </a:p>
          <a:p>
            <a:pPr>
              <a:defRPr sz="1800"/>
            </a:pPr>
            <a:r>
              <a:t>• Peak ≈ 1,800 active infections (75%).</a:t>
            </a:r>
          </a:p>
          <a:p>
            <a:pPr>
              <a:defRPr sz="1800"/>
            </a:pPr>
            <a:r>
              <a:t>• Outbreak resolved by day 30.</a:t>
            </a:r>
          </a:p>
          <a:p>
            <a:pPr>
              <a:defRPr sz="1800"/>
            </a:pPr>
          </a:p>
          <a:p>
            <a:pPr>
              <a:defRPr sz="1800"/>
            </a:pPr>
            <a:r>
              <a:t>[Insert Influenza Curve Placeholder]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Co-Infection Results</a:t>
            </a:r>
          </a:p>
        </p:txBody>
      </p:sp>
      <p:sp>
        <p:nvSpPr>
          <p:cNvPr id="3" name="Content Placeholder 2"/>
          <p:cNvSpPr>
            <a:spLocks noGrp="1"/>
          </p:cNvSpPr>
          <p:nvPr>
            <p:ph idx="1"/>
          </p:nvPr>
        </p:nvSpPr>
        <p:spPr/>
        <p:txBody>
          <a:bodyPr/>
          <a:lstStyle/>
          <a:p>
            <a:pPr>
              <a:defRPr sz="1800"/>
            </a:pPr>
            <a:r>
              <a:t>• HIV infections ↑ ~10–15% with influenza present.</a:t>
            </a:r>
          </a:p>
          <a:p>
            <a:pPr>
              <a:defRPr sz="1800"/>
            </a:pPr>
            <a:r>
              <a:t>• Influenza largely unaffected.</a:t>
            </a:r>
          </a:p>
          <a:p>
            <a:pPr>
              <a:defRPr sz="1800"/>
            </a:pPr>
            <a:r>
              <a:t>• Asymmetric: flu affects HIV slightly, not vice versa.</a:t>
            </a:r>
          </a:p>
          <a:p>
            <a:pPr>
              <a:defRPr sz="1800"/>
            </a:pPr>
          </a:p>
          <a:p>
            <a:pPr>
              <a:defRPr sz="1800"/>
            </a:pPr>
            <a:r>
              <a:t>[Insert Comparison Graph/Table]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 Health Implications</a:t>
            </a:r>
          </a:p>
        </p:txBody>
      </p:sp>
      <p:sp>
        <p:nvSpPr>
          <p:cNvPr id="3" name="Content Placeholder 2"/>
          <p:cNvSpPr>
            <a:spLocks noGrp="1"/>
          </p:cNvSpPr>
          <p:nvPr>
            <p:ph idx="1"/>
          </p:nvPr>
        </p:nvSpPr>
        <p:spPr/>
        <p:txBody>
          <a:bodyPr/>
          <a:lstStyle/>
          <a:p>
            <a:pPr>
              <a:defRPr sz="1800"/>
            </a:pPr>
            <a:r>
              <a:t>1. Maintain ART adherence for viral suppression.</a:t>
            </a:r>
          </a:p>
          <a:p>
            <a:pPr>
              <a:defRPr sz="1800"/>
            </a:pPr>
            <a:r>
              <a:t>2. Enhance annual influenza vaccination.</a:t>
            </a:r>
          </a:p>
          <a:p>
            <a:pPr>
              <a:defRPr sz="1800"/>
            </a:pPr>
            <a:r>
              <a:t>→ Combined strategy to reduce community burden.</a:t>
            </a:r>
          </a:p>
          <a:p>
            <a:pPr>
              <a:defRPr sz="1800"/>
            </a:pPr>
          </a:p>
          <a:p>
            <a:pPr>
              <a:defRPr sz="1800"/>
            </a:pPr>
            <a:r>
              <a:t>[Insert Vaccination Graphic]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Strengths</a:t>
            </a:r>
          </a:p>
        </p:txBody>
      </p:sp>
      <p:sp>
        <p:nvSpPr>
          <p:cNvPr id="3" name="Content Placeholder 2"/>
          <p:cNvSpPr>
            <a:spLocks noGrp="1"/>
          </p:cNvSpPr>
          <p:nvPr>
            <p:ph idx="1"/>
          </p:nvPr>
        </p:nvSpPr>
        <p:spPr/>
        <p:txBody>
          <a:bodyPr/>
          <a:lstStyle/>
          <a:p>
            <a:pPr>
              <a:defRPr sz="1800"/>
            </a:pPr>
            <a:r>
              <a:t>• Demographically accurate synthetic population.</a:t>
            </a:r>
          </a:p>
          <a:p>
            <a:pPr>
              <a:defRPr sz="1800"/>
            </a:pPr>
            <a:r>
              <a:t>• Integrates chronic and acute infections.</a:t>
            </a:r>
          </a:p>
          <a:p>
            <a:pPr>
              <a:defRPr sz="1800"/>
            </a:pPr>
            <a:r>
              <a:t>• Reflects stochastic human behaviour.</a:t>
            </a:r>
          </a:p>
          <a:p>
            <a:pPr>
              <a:defRPr sz="1800"/>
            </a:pPr>
          </a:p>
          <a:p>
            <a:pPr>
              <a:defRPr sz="1800"/>
            </a:pPr>
            <a:r>
              <a:t>[Insert Population Network Snapshot]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&amp; Future Work</a:t>
            </a:r>
          </a:p>
        </p:txBody>
      </p:sp>
      <p:sp>
        <p:nvSpPr>
          <p:cNvPr id="3" name="Content Placeholder 2"/>
          <p:cNvSpPr>
            <a:spLocks noGrp="1"/>
          </p:cNvSpPr>
          <p:nvPr>
            <p:ph idx="1"/>
          </p:nvPr>
        </p:nvSpPr>
        <p:spPr/>
        <p:txBody>
          <a:bodyPr/>
          <a:lstStyle/>
          <a:p>
            <a:pPr>
              <a:defRPr sz="1800"/>
            </a:pPr>
            <a:r>
              <a:t>• No seasonality, mobility or healthcare interventions.</a:t>
            </a:r>
          </a:p>
          <a:p>
            <a:pPr>
              <a:defRPr sz="1800"/>
            </a:pPr>
            <a:r>
              <a:t>• Static demographics (no births/deaths/migration).</a:t>
            </a:r>
          </a:p>
          <a:p>
            <a:pPr>
              <a:defRPr sz="1800"/>
            </a:pPr>
            <a:r>
              <a:t>• Simplified HIV progression.</a:t>
            </a:r>
          </a:p>
          <a:p>
            <a:pPr>
              <a:defRPr sz="1800"/>
            </a:pPr>
            <a:r>
              <a:t>Future: add interventions, behaviour adaptation, mobility.</a:t>
            </a:r>
          </a:p>
          <a:p>
            <a:pPr>
              <a:defRPr sz="1800"/>
            </a:pPr>
          </a:p>
          <a:p>
            <a:pPr>
              <a:defRPr sz="1800"/>
            </a:pPr>
            <a:r>
              <a:t>[Insert Improvement Flowchart]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sp>
        <p:nvSpPr>
          <p:cNvPr id="3" name="Content Placeholder 2"/>
          <p:cNvSpPr>
            <a:spLocks noGrp="1"/>
          </p:cNvSpPr>
          <p:nvPr>
            <p:ph idx="1"/>
          </p:nvPr>
        </p:nvSpPr>
        <p:spPr/>
        <p:txBody>
          <a:bodyPr/>
          <a:lstStyle/>
          <a:p>
            <a:pPr>
              <a:defRPr sz="1800"/>
            </a:pPr>
            <a:r>
              <a:t>• HIV slow, influenza fast → limited interaction.</a:t>
            </a:r>
          </a:p>
          <a:p>
            <a:pPr>
              <a:defRPr sz="1800"/>
            </a:pPr>
            <a:r>
              <a:t>• Co-infection increases HIV ~10–15%.</a:t>
            </a:r>
          </a:p>
          <a:p>
            <a:pPr>
              <a:defRPr sz="1800"/>
            </a:pPr>
            <a:r>
              <a:t>• Reinforces ART and flu vaccination importance.</a:t>
            </a:r>
          </a:p>
          <a:p>
            <a:pPr>
              <a:defRPr sz="1800"/>
            </a:pPr>
            <a:r>
              <a:t>• Demonstrates value of computational epidemiology.</a:t>
            </a:r>
          </a:p>
          <a:p>
            <a:pPr>
              <a:defRPr sz="1800"/>
            </a:pPr>
          </a:p>
          <a:p>
            <a:pPr>
              <a:defRPr sz="1800"/>
            </a:pPr>
            <a:r>
              <a:t>[Insert Summary Figure Placeholder]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Acknowledgements &amp; References</a:t>
            </a:r>
          </a:p>
        </p:txBody>
      </p:sp>
      <p:sp>
        <p:nvSpPr>
          <p:cNvPr id="3" name="Content Placeholder 2"/>
          <p:cNvSpPr>
            <a:spLocks noGrp="1"/>
          </p:cNvSpPr>
          <p:nvPr>
            <p:ph idx="1"/>
          </p:nvPr>
        </p:nvSpPr>
        <p:spPr/>
        <p:txBody>
          <a:bodyPr/>
          <a:lstStyle/>
          <a:p>
            <a:pPr>
              <a:defRPr sz="1800"/>
            </a:pPr>
            <a:r>
              <a:t>Supervisor: Dr Mahendra Piraveenan</a:t>
            </a:r>
          </a:p>
          <a:p>
            <a:pPr>
              <a:defRPr sz="1800"/>
            </a:pPr>
            <a:r>
              <a:t>Data: ABS, Kirby Institute, Department of Health</a:t>
            </a:r>
          </a:p>
          <a:p>
            <a:pPr>
              <a:defRPr sz="1800"/>
            </a:pPr>
            <a:r>
              <a:t>Key Sources:</a:t>
            </a:r>
          </a:p>
          <a:p>
            <a:pPr>
              <a:defRPr sz="1800"/>
            </a:pPr>
            <a:r>
              <a:t>Cohen et al. (2013)</a:t>
            </a:r>
          </a:p>
          <a:p>
            <a:pPr>
              <a:defRPr sz="1800"/>
            </a:pPr>
            <a:r>
              <a:t>Kunisaki &amp; Janoff (2009)</a:t>
            </a:r>
          </a:p>
          <a:p>
            <a:pPr>
              <a:defRPr sz="1800"/>
            </a:pPr>
            <a:r>
              <a:t>Beck et al. (2012)</a:t>
            </a:r>
          </a:p>
          <a:p>
            <a:pPr>
              <a:defRPr sz="1800"/>
            </a:pPr>
            <a:r>
              <a:t>Barabási &amp; Albert (1999)</a:t>
            </a:r>
          </a:p>
          <a:p>
            <a:pPr>
              <a:defRPr sz="1800"/>
            </a:pPr>
            <a:r>
              <a:t>Patel et al. (2014)</a:t>
            </a:r>
          </a:p>
          <a:p>
            <a:pPr>
              <a:defRPr sz="1800"/>
            </a:pPr>
          </a:p>
          <a:p>
            <a:pPr>
              <a:defRPr sz="1800"/>
            </a:pPr>
            <a:r>
              <a:t>[Insert University Logo]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